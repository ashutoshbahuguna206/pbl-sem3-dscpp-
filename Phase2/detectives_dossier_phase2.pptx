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c37acce-1510-016e-fc5d-b87e6fe60fcf}">
          <p14:sldIdLst>
            <p14:sldId id="256"/>
            <p14:sldId id="257"/>
            <p14:sldId id="258"/>
            <p14:sldId id="259"/>
          </p14:sldIdLst>
        </p14:section>
        <p14:section name="Design" id="{4c72a058-edb3-0bab-7996-9ee08f468986}">
          <p14:sldIdLst>
            <p14:sldId id="260"/>
            <p14:sldId id="261"/>
            <p14:sldId id="262"/>
          </p14:sldIdLst>
        </p14:section>
        <p14:section name="Progress" id="{659a990d-217e-ab06-d04c-20f775c8f787}">
          <p14:sldIdLst>
            <p14:sldId id="263"/>
            <p14:sldId id="264"/>
            <p14:sldId id="265"/>
            <p14:sldId id="266"/>
            <p14:sldId id="267"/>
            <p14:sldId id="268"/>
          </p14:sldIdLst>
        </p14:section>
        <p14:section name="Wrap-up" id="{1665a7cd-6aa1-4048-4e3b-1f9c76927033}">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and the project in one sentence: a 2D murder-mystery game where the player must earn every clue, cross-examine suspects and use school science, built on graphs, a DAG, hash maps and a stack. Mention the team name and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each member and say who the mentor is. Section ML1, ML2, ML3; mentor Mr. Sujal Bindra; 4 interactions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pieces of mentor feedback: (1) make it simpler with just one case instead of several, (2) focus more on DSA because PBL is mainly about DSA. We changed the scope to a single complete case and we made the data structures and algorithms the core of the project. The repository still holds two small extra cases, but they are used only by the automated tests to show the engine is reusable; the game itself ships one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finalized problem and the four measurable objectives. Objectives 1 to 3 are achieved; objective 4 (SQLite and playtesting) is planned for Phase-III. Objective 1 reflects the mentor advice to focus on DSA.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keyboard input, the Qt screen, the engine, the (planned) database and the output. Emphasise that the engine never draws anything and the screen never decides rules. The database layer has a dashed border because it is planned, not implemented. Do not present it as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module in one sentence and how it depends on the others. The key idea: the engine is independent of Qt, which is why we can test it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each technology fits: C++ for the DSA and OOP course concepts; Qt for the 2D interface; Tiled for maps; SQLite because it needs no server. Be honest that SQLite is planned and not yet integrated.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concept, say where it is implemented and why. Data structures: BFS is in reachableLocations in Validator.h, Kahn's sort checks the clue DAG, hash tables are unordered_map in Case.h, the stack is the undo history in Game.h. OOP: Entity is abstract, three classes inherit from it. Only claim what is implemented: DBMS is not done yet. Be ready to explain that we use STL containers rather than writing 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Clearly separate completed, in-progress and pending work. The ~60% is our estimate: the logic and interface are done, the database, audio and user testing are not. Do not present planned work as completed. If asked why the Phase-II report describes an earlier stage, explain that the report was written before the engine, interface and maps were integrated, and that this deck shows the current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live demonstration (about 3 minutes): talk to Dr. Reddy in the library and press P; press L and solve the time-of-death puzzle (37 minus 29 is 8 hours before 7:15 am, so 11:15 pm); show the papers on the side table and cross-examine Rohit with them (T); show a wrong piece of evidence costing credibility. Replace the room images on this slide with real in-game screenshots from your laptop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engine_tests window saying 'All tests passed' if possible. Explain that the tests found real bugs (for example a door that placed the player inside a wall). Re-run engine_tests on your own laptop before presenting and show it. The playtest row is honestly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team member must be a contributor and must commit individually from their own GitHub account. Before presenting: push the latest code (the dossier engine v13 project), update the README with build and run steps, add all three members as contributors, and replace every red placeholder on this slide with real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every red placeholder with specific, truthful work that each member can explain and that is visible in their own commits. Avoid generic statements such as 'helped in coding'. Each member should be able to explain at least one module in detail, for example the validator, the cross-examination code in Game.h, the map loader or the Qt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genuine technical challenges and a realistic roadmap. Be honest: SQLite, audio and playtesting are still to do. The roadmap is what you will finish before Phase-III.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with the final outcome expected: a complete, tested investigation game that teaches reasoning. Thank the panel and invite questions. Each of you should be ready to answer questions on the code you worked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itle background"/>
          <p:cNvSpPr/>
          <p:nvPr/>
        </p:nvSpPr>
        <p:spPr>
          <a:xfrm>
            <a:off x="0" y="0"/>
            <a:ext cx="12191695"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University logo" descr="/tmp/deck/logo.png">    </p:cNvPr>
          <p:cNvPicPr>
            <a:picLocks noChangeAspect="1"/>
          </p:cNvPicPr>
          <p:nvPr/>
        </p:nvPicPr>
        <p:blipFill>
          <a:blip r:embed="rId1"/>
          <a:stretch>
            <a:fillRect/>
          </a:stretch>
        </p:blipFill>
        <p:spPr>
          <a:xfrm>
            <a:off x="9829800" y="274320"/>
            <a:ext cx="1828800" cy="585216"/>
          </a:xfrm>
          <a:prstGeom prst="rect">
            <a:avLst/>
          </a:prstGeom>
        </p:spPr>
      </p:pic>
      <p:sp>
        <p:nvSpPr>
          <p:cNvPr id="3" name="Title rule"/>
          <p:cNvSpPr/>
          <p:nvPr/>
        </p:nvSpPr>
        <p:spPr>
          <a:xfrm>
            <a:off x="548640" y="1143000"/>
            <a:ext cx="11091672" cy="0"/>
          </a:xfrm>
          <a:prstGeom prst="line">
            <a:avLst/>
          </a:prstGeom>
          <a:noFill/>
          <a:ln w="25400">
            <a:solidFill>
              <a:schemeClr val="tx2"/>
            </a:solidFill>
            <a:prstDash val="solid"/>
          </a:ln>
        </p:spPr>
      </p:sp>
      <p:sp>
        <p:nvSpPr>
          <p:cNvPr id="4" name="Footer"/>
          <p:cNvSpPr/>
          <p:nvPr/>
        </p:nvSpPr>
        <p:spPr>
          <a:xfrm>
            <a:off x="548640" y="6446520"/>
            <a:ext cx="8686800" cy="274320"/>
          </a:xfrm>
          <a:prstGeom prst="rect">
            <a:avLst/>
          </a:prstGeom>
          <a:noFill/>
          <a:ln/>
        </p:spPr>
        <p:txBody>
          <a:bodyPr wrap="square" lIns="0" tIns="0" rIns="0" bIns="0" rtlCol="0" anchor="ctr"/>
          <a:lstStyle/>
          <a:p>
            <a:pPr indent="0" marL="0">
              <a:buNone/>
            </a:pPr>
            <a:r>
              <a:rPr lang="en-US" sz="1100" dirty="0">
                <a:solidFill>
                  <a:schemeClr val="tx2"/>
                </a:solidFill>
              </a:rPr>
              <a:t>Department of Computer Science &amp; Engineering — Graphic Era (Deemed to be University)</a:t>
            </a:r>
            <a:endParaRPr lang="en-US" sz="1100" dirty="0"/>
          </a:p>
        </p:txBody>
      </p:sp>
      <p:sp>
        <p:nvSpPr>
          <p:cNvPr id="5" name="Slide total"/>
          <p:cNvSpPr/>
          <p:nvPr/>
        </p:nvSpPr>
        <p:spPr>
          <a:xfrm>
            <a:off x="11247120" y="6446520"/>
            <a:ext cx="411480" cy="274320"/>
          </a:xfrm>
          <a:prstGeom prst="rect">
            <a:avLst/>
          </a:prstGeom>
          <a:noFill/>
          <a:ln/>
        </p:spPr>
        <p:txBody>
          <a:bodyPr wrap="square" lIns="0" tIns="0" rIns="0" bIns="0" rtlCol="0" anchor="ctr"/>
          <a:lstStyle/>
          <a:p>
            <a:pPr indent="0" marL="0">
              <a:buNone/>
            </a:pPr>
            <a:r>
              <a:rPr lang="en-US" sz="1100" dirty="0">
                <a:solidFill>
                  <a:schemeClr val="tx2"/>
                </a:solidFill>
              </a:rPr>
              <a:t>/ 15</a:t>
            </a:r>
            <a:endParaRPr lang="en-US" sz="1100" dirty="0"/>
          </a:p>
        </p:txBody>
      </p:sp>
      <p:sp>
        <p:nvSpPr>
          <p:cNvPr id="6" name="Text 3"/>
          <p:cNvSpPr/>
          <p:nvPr>
            <p:ph idx="104" type="title" hasCustomPrompt="1"/>
          </p:nvPr>
        </p:nvSpPr>
        <p:spPr>
          <a:xfrm>
            <a:off x="548640" y="274320"/>
            <a:ext cx="914400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late"/>
          <p:cNvSpPr/>
          <p:nvPr/>
        </p:nvSpPr>
        <p:spPr>
          <a:xfrm>
            <a:off x="548640" y="502920"/>
            <a:ext cx="3200400" cy="1051560"/>
          </a:xfrm>
          <a:prstGeom prst="roundRect">
            <a:avLst>
              <a:gd name="adj" fmla="val 8696"/>
            </a:avLst>
          </a:prstGeom>
          <a:solidFill>
            <a:schemeClr val="bg1"/>
          </a:solidFill>
          <a:ln w="12700">
            <a:solidFill>
              <a:schemeClr val="bg1"/>
            </a:solidFill>
            <a:prstDash val="solid"/>
          </a:ln>
        </p:spPr>
      </p:sp>
      <p:pic>
        <p:nvPicPr>
          <p:cNvPr id="3" name="University logo" descr="Graphic Era Deemed to be University Dehradun logo">    </p:cNvPr>
          <p:cNvPicPr>
            <a:picLocks noChangeAspect="1"/>
          </p:cNvPicPr>
          <p:nvPr/>
        </p:nvPicPr>
        <p:blipFill>
          <a:blip r:embed="rId1"/>
          <a:stretch>
            <a:fillRect/>
          </a:stretch>
        </p:blipFill>
        <p:spPr>
          <a:xfrm>
            <a:off x="658368" y="576072"/>
            <a:ext cx="2980944" cy="950976"/>
          </a:xfrm>
          <a:prstGeom prst="rect">
            <a:avLst/>
          </a:prstGeom>
        </p:spPr>
      </p:pic>
      <p:sp>
        <p:nvSpPr>
          <p:cNvPr id="4" name="Text 1"/>
          <p:cNvSpPr txBox="1"/>
          <p:nvPr/>
        </p:nvSpPr>
        <p:spPr>
          <a:xfrm>
            <a:off x="548640" y="2057400"/>
            <a:ext cx="6217920" cy="365760"/>
          </a:xfrm>
          <a:prstGeom prst="rect">
            <a:avLst/>
          </a:prstGeom>
          <a:noFill/>
          <a:ln/>
        </p:spPr>
        <p:txBody>
          <a:bodyPr wrap="square" lIns="0" tIns="0" rIns="0" bIns="0" rtlCol="0" anchor="ctr"/>
          <a:lstStyle/>
          <a:p>
            <a:pPr indent="0" marL="0">
              <a:buNone/>
            </a:pPr>
            <a:r>
              <a:rPr lang="en-US" sz="1600" b="1" spc="400" kern="0" dirty="0">
                <a:solidFill>
                  <a:schemeClr val="bg2"/>
                </a:solidFill>
              </a:rPr>
              <a:t>PROJECT-BASED LEARNING</a:t>
            </a:r>
            <a:endParaRPr lang="en-US" sz="1600" dirty="0"/>
          </a:p>
        </p:txBody>
      </p:sp>
      <p:sp>
        <p:nvSpPr>
          <p:cNvPr id="5" name="Text 2"/>
          <p:cNvSpPr txBox="1"/>
          <p:nvPr/>
        </p:nvSpPr>
        <p:spPr>
          <a:xfrm>
            <a:off x="548640" y="2468880"/>
            <a:ext cx="6217920" cy="548640"/>
          </a:xfrm>
          <a:prstGeom prst="rect">
            <a:avLst/>
          </a:prstGeom>
          <a:noFill/>
          <a:ln/>
        </p:spPr>
        <p:txBody>
          <a:bodyPr wrap="square" lIns="0" tIns="0" rIns="0" bIns="0" rtlCol="0" anchor="ctr"/>
          <a:lstStyle/>
          <a:p>
            <a:pPr indent="0" marL="0">
              <a:buNone/>
            </a:pPr>
            <a:r>
              <a:rPr lang="en-US" sz="3000" b="1" dirty="0">
                <a:solidFill>
                  <a:schemeClr val="bg1"/>
                </a:solidFill>
              </a:rPr>
              <a:t>PHASE-II EVALUATION</a:t>
            </a:r>
            <a:endParaRPr lang="en-US" sz="3000" dirty="0"/>
          </a:p>
        </p:txBody>
      </p:sp>
      <p:sp>
        <p:nvSpPr>
          <p:cNvPr id="6" name="Text 3"/>
          <p:cNvSpPr txBox="1"/>
          <p:nvPr/>
        </p:nvSpPr>
        <p:spPr>
          <a:xfrm>
            <a:off x="548640" y="3108960"/>
            <a:ext cx="6309360" cy="914400"/>
          </a:xfrm>
          <a:prstGeom prst="rect">
            <a:avLst/>
          </a:prstGeom>
          <a:noFill/>
          <a:ln/>
        </p:spPr>
        <p:txBody>
          <a:bodyPr wrap="square" lIns="0" tIns="0" rIns="0" bIns="0" rtlCol="0" anchor="ctr"/>
          <a:lstStyle/>
          <a:p>
            <a:pPr indent="0" marL="0">
              <a:buNone/>
            </a:pPr>
            <a:r>
              <a:rPr lang="en-US" sz="4800" b="1" dirty="0">
                <a:solidFill>
                  <a:schemeClr val="bg1"/>
                </a:solidFill>
              </a:rPr>
              <a:t>The Detective’s Dossier</a:t>
            </a:r>
            <a:endParaRPr lang="en-US" sz="4800" dirty="0"/>
          </a:p>
        </p:txBody>
      </p:sp>
      <p:sp>
        <p:nvSpPr>
          <p:cNvPr id="7" name="Text 4"/>
          <p:cNvSpPr txBox="1"/>
          <p:nvPr/>
        </p:nvSpPr>
        <p:spPr>
          <a:xfrm>
            <a:off x="548640" y="4023360"/>
            <a:ext cx="6217920" cy="457200"/>
          </a:xfrm>
          <a:prstGeom prst="rect">
            <a:avLst/>
          </a:prstGeom>
          <a:noFill/>
          <a:ln/>
        </p:spPr>
        <p:txBody>
          <a:bodyPr wrap="square" lIns="0" tIns="0" rIns="0" bIns="0" rtlCol="0" anchor="ctr"/>
          <a:lstStyle/>
          <a:p>
            <a:pPr indent="0" marL="0">
              <a:buNone/>
            </a:pPr>
            <a:r>
              <a:rPr lang="en-US" sz="1800" i="1" dirty="0">
                <a:solidFill>
                  <a:schemeClr val="bg2"/>
                </a:solidFill>
              </a:rPr>
              <a:t>A 2D murder-mystery investigation game in C++ and Qt</a:t>
            </a:r>
            <a:endParaRPr lang="en-US" sz="1800" dirty="0"/>
          </a:p>
        </p:txBody>
      </p:sp>
      <p:sp>
        <p:nvSpPr>
          <p:cNvPr id="8" name="Text 5"/>
          <p:cNvSpPr txBox="1"/>
          <p:nvPr/>
        </p:nvSpPr>
        <p:spPr>
          <a:xfrm>
            <a:off x="548640" y="4754880"/>
            <a:ext cx="6217920" cy="685800"/>
          </a:xfrm>
          <a:prstGeom prst="rect">
            <a:avLst/>
          </a:prstGeom>
          <a:noFill/>
          <a:ln/>
        </p:spPr>
        <p:txBody>
          <a:bodyPr wrap="square" lIns="0" tIns="0" rIns="0" bIns="0" rtlCol="0" anchor="ctr"/>
          <a:lstStyle/>
          <a:p>
            <a:pPr indent="0" marL="0">
              <a:buNone/>
            </a:pPr>
            <a:r>
              <a:rPr lang="en-US" sz="1800" b="1" dirty="0">
                <a:solidFill>
                  <a:schemeClr val="bg1"/>
                </a:solidFill>
              </a:rPr>
              <a:t>Team Code Detektives</a:t>
            </a:r>
            <a:endParaRPr lang="en-US" sz="1800" dirty="0"/>
          </a:p>
          <a:p>
            <a:pPr indent="0" marL="0">
              <a:buNone/>
            </a:pPr>
            <a:r>
              <a:rPr lang="en-US" sz="1800" dirty="0">
                <a:solidFill>
                  <a:schemeClr val="bg1"/>
                </a:solidFill>
              </a:rPr>
              <a:t>Team ID: DSCPP-III-2026-T027</a:t>
            </a:r>
            <a:endParaRPr lang="en-US" sz="1800" dirty="0"/>
          </a:p>
        </p:txBody>
      </p:sp>
      <p:sp>
        <p:nvSpPr>
          <p:cNvPr id="9" name="Text 6"/>
          <p:cNvSpPr txBox="1"/>
          <p:nvPr/>
        </p:nvSpPr>
        <p:spPr>
          <a:xfrm>
            <a:off x="548640" y="5577840"/>
            <a:ext cx="6217920" cy="914400"/>
          </a:xfrm>
          <a:prstGeom prst="rect">
            <a:avLst/>
          </a:prstGeom>
          <a:noFill/>
          <a:ln/>
        </p:spPr>
        <p:txBody>
          <a:bodyPr wrap="square" lIns="0" tIns="0" rIns="0" bIns="0" rtlCol="0" anchor="ctr"/>
          <a:lstStyle/>
          <a:p>
            <a:pPr indent="0" marL="0">
              <a:buNone/>
            </a:pPr>
            <a:r>
              <a:rPr lang="en-US" sz="1400" dirty="0">
                <a:solidFill>
                  <a:schemeClr val="bg2"/>
                </a:solidFill>
              </a:rPr>
              <a:t>Department of Computer Science &amp; Engineering</a:t>
            </a:r>
            <a:endParaRPr lang="en-US" sz="1400" dirty="0"/>
          </a:p>
          <a:p>
            <a:pPr indent="0" marL="0">
              <a:buNone/>
            </a:pPr>
            <a:r>
              <a:rPr lang="en-US" sz="1400" dirty="0">
                <a:solidFill>
                  <a:schemeClr val="bg2"/>
                </a:solidFill>
              </a:rPr>
              <a:t>Graphic Era (Deemed to be University), Dehradun</a:t>
            </a:r>
            <a:endParaRPr lang="en-US" sz="1400" dirty="0"/>
          </a:p>
          <a:p>
            <a:pPr indent="0" marL="0">
              <a:buNone/>
            </a:pPr>
            <a:r>
              <a:rPr lang="en-US" sz="1400" dirty="0">
                <a:solidFill>
                  <a:schemeClr val="bg2"/>
                </a:solidFill>
              </a:rPr>
              <a:t>Academic Session 2026–27</a:t>
            </a:r>
            <a:endParaRPr lang="en-US" sz="1400" dirty="0"/>
          </a:p>
        </p:txBody>
      </p:sp>
      <p:sp>
        <p:nvSpPr>
          <p:cNvPr id="10" name="Image frame"/>
          <p:cNvSpPr/>
          <p:nvPr/>
        </p:nvSpPr>
        <p:spPr>
          <a:xfrm>
            <a:off x="7178040" y="868680"/>
            <a:ext cx="4480560" cy="3355848"/>
          </a:xfrm>
          <a:prstGeom prst="rect">
            <a:avLst/>
          </a:prstGeom>
          <a:solidFill>
            <a:schemeClr val="bg1"/>
          </a:solidFill>
          <a:ln w="12700">
            <a:solidFill>
              <a:schemeClr val="bg1"/>
            </a:solidFill>
            <a:prstDash val="solid"/>
          </a:ln>
        </p:spPr>
      </p:sp>
      <p:pic>
        <p:nvPicPr>
          <p:cNvPr id="11" name="Library room render" descr="The library room of the game, rendered from our map files">    </p:cNvPr>
          <p:cNvPicPr>
            <a:picLocks noChangeAspect="1"/>
          </p:cNvPicPr>
          <p:nvPr/>
        </p:nvPicPr>
        <p:blipFill>
          <a:blip r:embed="rId2"/>
          <a:stretch>
            <a:fillRect/>
          </a:stretch>
        </p:blipFill>
        <p:spPr>
          <a:xfrm>
            <a:off x="7251192" y="941832"/>
            <a:ext cx="4334256" cy="3246120"/>
          </a:xfrm>
          <a:prstGeom prst="rect">
            <a:avLst/>
          </a:prstGeom>
        </p:spPr>
      </p:pic>
      <p:sp>
        <p:nvSpPr>
          <p:cNvPr id="12" name="Text 8"/>
          <p:cNvSpPr txBox="1"/>
          <p:nvPr/>
        </p:nvSpPr>
        <p:spPr>
          <a:xfrm>
            <a:off x="7178040" y="4315968"/>
            <a:ext cx="4480560" cy="274320"/>
          </a:xfrm>
          <a:prstGeom prst="rect">
            <a:avLst/>
          </a:prstGeom>
          <a:noFill/>
          <a:ln/>
        </p:spPr>
        <p:txBody>
          <a:bodyPr wrap="square" lIns="0" tIns="0" rIns="0" bIns="0" rtlCol="0" anchor="ctr"/>
          <a:lstStyle/>
          <a:p>
            <a:pPr indent="0" marL="0">
              <a:buNone/>
            </a:pPr>
            <a:r>
              <a:rPr lang="en-US" sz="1100" i="1" dirty="0">
                <a:solidFill>
                  <a:schemeClr val="bg2"/>
                </a:solidFill>
              </a:rPr>
              <a:t>The library, rendered from our map files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Team &amp; Mentor Details</a:t>
            </a:r>
            <a:endParaRPr lang="en-US" sz="3200" dirty="0"/>
          </a:p>
        </p:txBody>
      </p:sp>
      <p:sp>
        <p:nvSpPr>
          <p:cNvPr id="3" name="Team information card"/>
          <p:cNvSpPr/>
          <p:nvPr/>
        </p:nvSpPr>
        <p:spPr>
          <a:xfrm>
            <a:off x="548640" y="1508760"/>
            <a:ext cx="5486400" cy="2743200"/>
          </a:xfrm>
          <a:prstGeom prst="roundRect">
            <a:avLst>
              <a:gd name="adj" fmla="val 4000"/>
            </a:avLst>
          </a:prstGeom>
          <a:solidFill>
            <a:schemeClr val="bg2"/>
          </a:solidFill>
          <a:ln w="12700">
            <a:solidFill>
              <a:schemeClr val="bg2"/>
            </a:solidFill>
            <a:prstDash val="solid"/>
          </a:ln>
        </p:spPr>
      </p:sp>
      <p:sp>
        <p:nvSpPr>
          <p:cNvPr id="4" name="Heading: Team Information"/>
          <p:cNvSpPr txBox="1"/>
          <p:nvPr/>
        </p:nvSpPr>
        <p:spPr>
          <a:xfrm>
            <a:off x="777240" y="1645920"/>
            <a:ext cx="5029200" cy="411480"/>
          </a:xfrm>
          <a:prstGeom prst="rect">
            <a:avLst/>
          </a:prstGeom>
          <a:noFill/>
          <a:ln/>
        </p:spPr>
        <p:txBody>
          <a:bodyPr wrap="square" lIns="0" tIns="0" rIns="0" bIns="0" rtlCol="0" anchor="ctr"/>
          <a:lstStyle/>
          <a:p>
            <a:pPr indent="0" marL="0">
              <a:buNone/>
            </a:pPr>
            <a:r>
              <a:rPr lang="en-US" sz="2000" b="1" dirty="0">
                <a:solidFill>
                  <a:schemeClr val="tx2"/>
                </a:solidFill>
              </a:rPr>
              <a:t>Team Information</a:t>
            </a:r>
            <a:endParaRPr lang="en-US" sz="2000" dirty="0"/>
          </a:p>
        </p:txBody>
      </p:sp>
      <p:sp>
        <p:nvSpPr>
          <p:cNvPr id="5" name="Label: Team Name:"/>
          <p:cNvSpPr txBox="1"/>
          <p:nvPr/>
        </p:nvSpPr>
        <p:spPr>
          <a:xfrm>
            <a:off x="777240" y="2194560"/>
            <a:ext cx="1463040" cy="384048"/>
          </a:xfrm>
          <a:prstGeom prst="rect">
            <a:avLst/>
          </a:prstGeom>
          <a:noFill/>
          <a:ln/>
        </p:spPr>
        <p:txBody>
          <a:bodyPr wrap="square" lIns="0" tIns="0" rIns="0" bIns="0" rtlCol="0" anchor="ctr"/>
          <a:lstStyle/>
          <a:p>
            <a:pPr indent="0" marL="0">
              <a:buNone/>
            </a:pPr>
            <a:r>
              <a:rPr lang="en-US" sz="1700" b="1" dirty="0">
                <a:solidFill>
                  <a:schemeClr val="tx1"/>
                </a:solidFill>
              </a:rPr>
              <a:t>Team Name:</a:t>
            </a:r>
            <a:endParaRPr lang="en-US" sz="1700" dirty="0"/>
          </a:p>
        </p:txBody>
      </p:sp>
      <p:sp>
        <p:nvSpPr>
          <p:cNvPr id="6" name="Value: Team Name:"/>
          <p:cNvSpPr txBox="1"/>
          <p:nvPr/>
        </p:nvSpPr>
        <p:spPr>
          <a:xfrm>
            <a:off x="2331720" y="2194560"/>
            <a:ext cx="3474720" cy="384048"/>
          </a:xfrm>
          <a:prstGeom prst="rect">
            <a:avLst/>
          </a:prstGeom>
          <a:noFill/>
          <a:ln/>
        </p:spPr>
        <p:txBody>
          <a:bodyPr wrap="square" lIns="0" tIns="0" rIns="0" bIns="0" rtlCol="0" anchor="ctr"/>
          <a:lstStyle/>
          <a:p>
            <a:pPr indent="0" marL="0">
              <a:buNone/>
            </a:pPr>
            <a:r>
              <a:rPr lang="en-US" sz="1700" dirty="0">
                <a:solidFill>
                  <a:schemeClr val="tx1"/>
                </a:solidFill>
              </a:rPr>
              <a:t>Code Detektives</a:t>
            </a:r>
            <a:endParaRPr lang="en-US" sz="1700" dirty="0"/>
          </a:p>
        </p:txBody>
      </p:sp>
      <p:sp>
        <p:nvSpPr>
          <p:cNvPr id="7" name="Label: Team ID:"/>
          <p:cNvSpPr txBox="1"/>
          <p:nvPr/>
        </p:nvSpPr>
        <p:spPr>
          <a:xfrm>
            <a:off x="777240" y="2651760"/>
            <a:ext cx="1463040" cy="384048"/>
          </a:xfrm>
          <a:prstGeom prst="rect">
            <a:avLst/>
          </a:prstGeom>
          <a:noFill/>
          <a:ln/>
        </p:spPr>
        <p:txBody>
          <a:bodyPr wrap="square" lIns="0" tIns="0" rIns="0" bIns="0" rtlCol="0" anchor="ctr"/>
          <a:lstStyle/>
          <a:p>
            <a:pPr indent="0" marL="0">
              <a:buNone/>
            </a:pPr>
            <a:r>
              <a:rPr lang="en-US" sz="1700" b="1" dirty="0">
                <a:solidFill>
                  <a:schemeClr val="tx1"/>
                </a:solidFill>
              </a:rPr>
              <a:t>Team ID:</a:t>
            </a:r>
            <a:endParaRPr lang="en-US" sz="1700" dirty="0"/>
          </a:p>
        </p:txBody>
      </p:sp>
      <p:sp>
        <p:nvSpPr>
          <p:cNvPr id="8" name="Value: Team ID:"/>
          <p:cNvSpPr txBox="1"/>
          <p:nvPr/>
        </p:nvSpPr>
        <p:spPr>
          <a:xfrm>
            <a:off x="2331720" y="2651760"/>
            <a:ext cx="3474720" cy="384048"/>
          </a:xfrm>
          <a:prstGeom prst="rect">
            <a:avLst/>
          </a:prstGeom>
          <a:noFill/>
          <a:ln/>
        </p:spPr>
        <p:txBody>
          <a:bodyPr wrap="square" lIns="0" tIns="0" rIns="0" bIns="0" rtlCol="0" anchor="ctr"/>
          <a:lstStyle/>
          <a:p>
            <a:pPr indent="0" marL="0">
              <a:buNone/>
            </a:pPr>
            <a:r>
              <a:rPr lang="en-US" sz="1700" dirty="0">
                <a:solidFill>
                  <a:schemeClr val="tx1"/>
                </a:solidFill>
              </a:rPr>
              <a:t>DSCPP-III-2026-T027</a:t>
            </a:r>
            <a:endParaRPr lang="en-US" sz="1700" dirty="0"/>
          </a:p>
        </p:txBody>
      </p:sp>
      <p:sp>
        <p:nvSpPr>
          <p:cNvPr id="9" name="Label: Semester:"/>
          <p:cNvSpPr txBox="1"/>
          <p:nvPr/>
        </p:nvSpPr>
        <p:spPr>
          <a:xfrm>
            <a:off x="777240" y="3108960"/>
            <a:ext cx="1463040" cy="384048"/>
          </a:xfrm>
          <a:prstGeom prst="rect">
            <a:avLst/>
          </a:prstGeom>
          <a:noFill/>
          <a:ln/>
        </p:spPr>
        <p:txBody>
          <a:bodyPr wrap="square" lIns="0" tIns="0" rIns="0" bIns="0" rtlCol="0" anchor="ctr"/>
          <a:lstStyle/>
          <a:p>
            <a:pPr indent="0" marL="0">
              <a:buNone/>
            </a:pPr>
            <a:r>
              <a:rPr lang="en-US" sz="1700" b="1" dirty="0">
                <a:solidFill>
                  <a:schemeClr val="tx1"/>
                </a:solidFill>
              </a:rPr>
              <a:t>Semester:</a:t>
            </a:r>
            <a:endParaRPr lang="en-US" sz="1700" dirty="0"/>
          </a:p>
        </p:txBody>
      </p:sp>
      <p:sp>
        <p:nvSpPr>
          <p:cNvPr id="10" name="Value: Semester:"/>
          <p:cNvSpPr txBox="1"/>
          <p:nvPr/>
        </p:nvSpPr>
        <p:spPr>
          <a:xfrm>
            <a:off x="2331720" y="3108960"/>
            <a:ext cx="3474720" cy="384048"/>
          </a:xfrm>
          <a:prstGeom prst="rect">
            <a:avLst/>
          </a:prstGeom>
          <a:noFill/>
          <a:ln/>
        </p:spPr>
        <p:txBody>
          <a:bodyPr wrap="square" lIns="0" tIns="0" rIns="0" bIns="0" rtlCol="0" anchor="ctr"/>
          <a:lstStyle/>
          <a:p>
            <a:pPr indent="0" marL="0">
              <a:buNone/>
            </a:pPr>
            <a:r>
              <a:rPr lang="en-US" sz="1700" dirty="0">
                <a:solidFill>
                  <a:schemeClr val="tx1"/>
                </a:solidFill>
              </a:rPr>
              <a:t>3rd</a:t>
            </a:r>
            <a:endParaRPr lang="en-US" sz="1700" dirty="0"/>
          </a:p>
        </p:txBody>
      </p:sp>
      <p:sp>
        <p:nvSpPr>
          <p:cNvPr id="11" name="Label: Section:"/>
          <p:cNvSpPr txBox="1"/>
          <p:nvPr/>
        </p:nvSpPr>
        <p:spPr>
          <a:xfrm>
            <a:off x="777240" y="3566160"/>
            <a:ext cx="1463040" cy="384048"/>
          </a:xfrm>
          <a:prstGeom prst="rect">
            <a:avLst/>
          </a:prstGeom>
          <a:noFill/>
          <a:ln/>
        </p:spPr>
        <p:txBody>
          <a:bodyPr wrap="square" lIns="0" tIns="0" rIns="0" bIns="0" rtlCol="0" anchor="ctr"/>
          <a:lstStyle/>
          <a:p>
            <a:pPr indent="0" marL="0">
              <a:buNone/>
            </a:pPr>
            <a:r>
              <a:rPr lang="en-US" sz="1700" b="1" dirty="0">
                <a:solidFill>
                  <a:schemeClr val="tx1"/>
                </a:solidFill>
              </a:rPr>
              <a:t>Section:</a:t>
            </a:r>
            <a:endParaRPr lang="en-US" sz="1700" dirty="0"/>
          </a:p>
        </p:txBody>
      </p:sp>
      <p:sp>
        <p:nvSpPr>
          <p:cNvPr id="12" name="Value: Section:"/>
          <p:cNvSpPr txBox="1"/>
          <p:nvPr/>
        </p:nvSpPr>
        <p:spPr>
          <a:xfrm>
            <a:off x="2331720" y="3566160"/>
            <a:ext cx="3474720" cy="384048"/>
          </a:xfrm>
          <a:prstGeom prst="rect">
            <a:avLst/>
          </a:prstGeom>
          <a:noFill/>
          <a:ln/>
        </p:spPr>
        <p:txBody>
          <a:bodyPr wrap="square" lIns="0" tIns="0" rIns="0" bIns="0" rtlCol="0" anchor="ctr"/>
          <a:lstStyle/>
          <a:p>
            <a:pPr indent="0" marL="0">
              <a:buNone/>
            </a:pPr>
            <a:r>
              <a:rPr lang="en-US" sz="1700" dirty="0">
                <a:solidFill>
                  <a:schemeClr val="tx1"/>
                </a:solidFill>
              </a:rPr>
              <a:t>ML1, ML2, ML3</a:t>
            </a:r>
            <a:endParaRPr lang="en-US" sz="1700" dirty="0"/>
          </a:p>
        </p:txBody>
      </p:sp>
      <p:sp>
        <p:nvSpPr>
          <p:cNvPr id="13" name="Label: Domain:"/>
          <p:cNvSpPr txBox="1"/>
          <p:nvPr/>
        </p:nvSpPr>
        <p:spPr>
          <a:xfrm>
            <a:off x="777240" y="4023360"/>
            <a:ext cx="1463040" cy="384048"/>
          </a:xfrm>
          <a:prstGeom prst="rect">
            <a:avLst/>
          </a:prstGeom>
          <a:noFill/>
          <a:ln/>
        </p:spPr>
        <p:txBody>
          <a:bodyPr wrap="square" lIns="0" tIns="0" rIns="0" bIns="0" rtlCol="0" anchor="ctr"/>
          <a:lstStyle/>
          <a:p>
            <a:pPr indent="0" marL="0">
              <a:buNone/>
            </a:pPr>
            <a:r>
              <a:rPr lang="en-US" sz="1700" b="1" dirty="0">
                <a:solidFill>
                  <a:schemeClr val="tx1"/>
                </a:solidFill>
              </a:rPr>
              <a:t>Domain:</a:t>
            </a:r>
            <a:endParaRPr lang="en-US" sz="1700" dirty="0"/>
          </a:p>
        </p:txBody>
      </p:sp>
      <p:sp>
        <p:nvSpPr>
          <p:cNvPr id="14" name="Value: Domain:"/>
          <p:cNvSpPr txBox="1"/>
          <p:nvPr/>
        </p:nvSpPr>
        <p:spPr>
          <a:xfrm>
            <a:off x="2331720" y="4023360"/>
            <a:ext cx="3474720" cy="384048"/>
          </a:xfrm>
          <a:prstGeom prst="rect">
            <a:avLst/>
          </a:prstGeom>
          <a:noFill/>
          <a:ln/>
        </p:spPr>
        <p:txBody>
          <a:bodyPr wrap="square" lIns="0" tIns="0" rIns="0" bIns="0" rtlCol="0" anchor="ctr"/>
          <a:lstStyle/>
          <a:p>
            <a:pPr indent="0" marL="0">
              <a:buNone/>
            </a:pPr>
            <a:r>
              <a:rPr lang="en-US" sz="1700" dirty="0">
                <a:solidFill>
                  <a:schemeClr val="tx1"/>
                </a:solidFill>
              </a:rPr>
              <a:t>Game development</a:t>
            </a:r>
            <a:endParaRPr lang="en-US" sz="1700" dirty="0"/>
          </a:p>
        </p:txBody>
      </p:sp>
      <p:sp>
        <p:nvSpPr>
          <p:cNvPr id="15" name="Team members card"/>
          <p:cNvSpPr/>
          <p:nvPr/>
        </p:nvSpPr>
        <p:spPr>
          <a:xfrm>
            <a:off x="6309360" y="1508760"/>
            <a:ext cx="5330952" cy="2743200"/>
          </a:xfrm>
          <a:prstGeom prst="roundRect">
            <a:avLst>
              <a:gd name="adj" fmla="val 4000"/>
            </a:avLst>
          </a:prstGeom>
          <a:solidFill>
            <a:schemeClr val="bg2"/>
          </a:solidFill>
          <a:ln w="12700">
            <a:solidFill>
              <a:schemeClr val="bg2"/>
            </a:solidFill>
            <a:prstDash val="solid"/>
          </a:ln>
        </p:spPr>
      </p:sp>
      <p:sp>
        <p:nvSpPr>
          <p:cNvPr id="16" name="Heading: Team Members"/>
          <p:cNvSpPr txBox="1"/>
          <p:nvPr/>
        </p:nvSpPr>
        <p:spPr>
          <a:xfrm>
            <a:off x="6537960" y="1645920"/>
            <a:ext cx="4846320" cy="411480"/>
          </a:xfrm>
          <a:prstGeom prst="rect">
            <a:avLst/>
          </a:prstGeom>
          <a:noFill/>
          <a:ln/>
        </p:spPr>
        <p:txBody>
          <a:bodyPr wrap="square" lIns="0" tIns="0" rIns="0" bIns="0" rtlCol="0" anchor="ctr"/>
          <a:lstStyle/>
          <a:p>
            <a:pPr indent="0" marL="0">
              <a:buNone/>
            </a:pPr>
            <a:r>
              <a:rPr lang="en-US" sz="2000" b="1" dirty="0">
                <a:solidFill>
                  <a:schemeClr val="tx2"/>
                </a:solidFill>
              </a:rPr>
              <a:t>Team Members</a:t>
            </a:r>
            <a:endParaRPr lang="en-US" sz="2000" dirty="0"/>
          </a:p>
        </p:txBody>
      </p:sp>
      <p:sp>
        <p:nvSpPr>
          <p:cNvPr id="17" name="Team members list"/>
          <p:cNvSpPr txBox="1"/>
          <p:nvPr/>
        </p:nvSpPr>
        <p:spPr>
          <a:xfrm>
            <a:off x="6537960" y="2194560"/>
            <a:ext cx="4937760" cy="19202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700" dirty="0">
                <a:solidFill>
                  <a:schemeClr val="tx1"/>
                </a:solidFill>
              </a:rPr>
              <a:t>Bahuguna, Ashutosh – 2510370440 (Team Lead)</a:t>
            </a:r>
            <a:endParaRPr lang="en-US" sz="1700" dirty="0"/>
          </a:p>
          <a:p>
            <a:pPr marL="342900" indent="-342900">
              <a:spcAft>
                <a:spcPts val="1000"/>
              </a:spcAft>
              <a:buSzPct val="100000"/>
              <a:buFont typeface="+mj-lt"/>
              <a:buAutoNum type="arabicPeriod" startAt="1"/>
            </a:pPr>
            <a:r>
              <a:rPr lang="en-US" sz="1700" dirty="0">
                <a:solidFill>
                  <a:schemeClr val="tx1"/>
                </a:solidFill>
              </a:rPr>
              <a:t>Pundir, Snehal – 2510370590</a:t>
            </a:r>
            <a:endParaRPr lang="en-US" sz="1700" dirty="0"/>
          </a:p>
          <a:p>
            <a:pPr marL="342900" indent="-342900">
              <a:spcAft>
                <a:spcPts val="1000"/>
              </a:spcAft>
              <a:buSzPct val="100000"/>
              <a:buFont typeface="+mj-lt"/>
              <a:buAutoNum type="arabicPeriod" startAt="1"/>
            </a:pPr>
            <a:r>
              <a:rPr lang="en-US" sz="1700" dirty="0">
                <a:solidFill>
                  <a:schemeClr val="tx1"/>
                </a:solidFill>
              </a:rPr>
              <a:t>Somraan, Vidhi – 2510380302</a:t>
            </a:r>
            <a:endParaRPr lang="en-US" sz="1700" dirty="0"/>
          </a:p>
        </p:txBody>
      </p:sp>
      <p:sp>
        <p:nvSpPr>
          <p:cNvPr id="18" name="Mentor card"/>
          <p:cNvSpPr/>
          <p:nvPr/>
        </p:nvSpPr>
        <p:spPr>
          <a:xfrm>
            <a:off x="548640" y="4526280"/>
            <a:ext cx="11091672" cy="1371600"/>
          </a:xfrm>
          <a:prstGeom prst="roundRect">
            <a:avLst>
              <a:gd name="adj" fmla="val 8000"/>
            </a:avLst>
          </a:prstGeom>
          <a:solidFill>
            <a:schemeClr val="bg2"/>
          </a:solidFill>
          <a:ln w="12700">
            <a:solidFill>
              <a:schemeClr val="bg2"/>
            </a:solidFill>
            <a:prstDash val="solid"/>
          </a:ln>
        </p:spPr>
      </p:sp>
      <p:sp>
        <p:nvSpPr>
          <p:cNvPr id="19" name="Heading: Mentor"/>
          <p:cNvSpPr txBox="1"/>
          <p:nvPr/>
        </p:nvSpPr>
        <p:spPr>
          <a:xfrm>
            <a:off x="777240" y="4645152"/>
            <a:ext cx="2743200" cy="411480"/>
          </a:xfrm>
          <a:prstGeom prst="rect">
            <a:avLst/>
          </a:prstGeom>
          <a:noFill/>
          <a:ln/>
        </p:spPr>
        <p:txBody>
          <a:bodyPr wrap="square" lIns="0" tIns="0" rIns="0" bIns="0" rtlCol="0" anchor="ctr"/>
          <a:lstStyle/>
          <a:p>
            <a:pPr indent="0" marL="0">
              <a:buNone/>
            </a:pPr>
            <a:r>
              <a:rPr lang="en-US" sz="2000" b="1" dirty="0">
                <a:solidFill>
                  <a:schemeClr val="tx2"/>
                </a:solidFill>
              </a:rPr>
              <a:t>Mentor</a:t>
            </a:r>
            <a:endParaRPr lang="en-US" sz="2000" dirty="0"/>
          </a:p>
        </p:txBody>
      </p:sp>
      <p:sp>
        <p:nvSpPr>
          <p:cNvPr id="20" name="Mentor name"/>
          <p:cNvSpPr txBox="1"/>
          <p:nvPr/>
        </p:nvSpPr>
        <p:spPr>
          <a:xfrm>
            <a:off x="777240" y="5138928"/>
            <a:ext cx="6583680" cy="457200"/>
          </a:xfrm>
          <a:prstGeom prst="rect">
            <a:avLst/>
          </a:prstGeom>
          <a:noFill/>
          <a:ln/>
        </p:spPr>
        <p:txBody>
          <a:bodyPr wrap="square" lIns="0" tIns="0" rIns="0" bIns="0" rtlCol="0" anchor="ctr"/>
          <a:lstStyle/>
          <a:p>
            <a:pPr indent="0" marL="0">
              <a:buNone/>
            </a:pPr>
            <a:r>
              <a:rPr lang="en-US" sz="2200" b="1" dirty="0">
                <a:solidFill>
                  <a:schemeClr val="tx1"/>
                </a:solidFill>
              </a:rPr>
              <a:t>Mr. Sujal Bindra</a:t>
            </a:r>
            <a:endParaRPr lang="en-US" sz="2200" dirty="0"/>
          </a:p>
        </p:txBody>
      </p:sp>
      <p:sp>
        <p:nvSpPr>
          <p:cNvPr id="21" name="Interactions label"/>
          <p:cNvSpPr txBox="1"/>
          <p:nvPr/>
        </p:nvSpPr>
        <p:spPr>
          <a:xfrm>
            <a:off x="6675120" y="5138928"/>
            <a:ext cx="3566160" cy="457200"/>
          </a:xfrm>
          <a:prstGeom prst="rect">
            <a:avLst/>
          </a:prstGeom>
          <a:noFill/>
          <a:ln/>
        </p:spPr>
        <p:txBody>
          <a:bodyPr wrap="square" lIns="0" tIns="0" rIns="0" bIns="0" rtlCol="0" anchor="ctr"/>
          <a:lstStyle/>
          <a:p>
            <a:pPr algn="r" indent="0" marL="0">
              <a:buNone/>
            </a:pPr>
            <a:r>
              <a:rPr lang="en-US" sz="1800" b="1" dirty="0">
                <a:solidFill>
                  <a:schemeClr val="tx1"/>
                </a:solidFill>
              </a:rPr>
              <a:t>Interactions completed:</a:t>
            </a:r>
            <a:endParaRPr lang="en-US" sz="1800" dirty="0"/>
          </a:p>
        </p:txBody>
      </p:sp>
      <p:sp>
        <p:nvSpPr>
          <p:cNvPr id="22" name="Interactions value"/>
          <p:cNvSpPr txBox="1"/>
          <p:nvPr/>
        </p:nvSpPr>
        <p:spPr>
          <a:xfrm>
            <a:off x="10378440" y="5138928"/>
            <a:ext cx="1097280" cy="457200"/>
          </a:xfrm>
          <a:prstGeom prst="rect">
            <a:avLst/>
          </a:prstGeom>
          <a:noFill/>
          <a:ln/>
        </p:spPr>
        <p:txBody>
          <a:bodyPr wrap="square" lIns="0" tIns="0" rIns="0" bIns="0" rtlCol="0" anchor="ctr"/>
          <a:lstStyle/>
          <a:p>
            <a:pPr algn="l" indent="0" marL="0">
              <a:buNone/>
            </a:pPr>
            <a:r>
              <a:rPr lang="en-US" sz="2000" b="1" dirty="0">
                <a:solidFill>
                  <a:schemeClr val="tx1"/>
                </a:solidFill>
              </a:rPr>
              <a:t>4</a:t>
            </a:r>
            <a:endParaRPr lang="en-US" sz="20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Phase-I Recap &amp; Feedback Incorporated</a:t>
            </a:r>
            <a:endParaRPr lang="en-US" sz="3200" dirty="0"/>
          </a:p>
        </p:txBody>
      </p:sp>
      <p:sp>
        <p:nvSpPr>
          <p:cNvPr id="3" name="Phase-I status card"/>
          <p:cNvSpPr/>
          <p:nvPr/>
        </p:nvSpPr>
        <p:spPr>
          <a:xfrm>
            <a:off x="548640" y="1463040"/>
            <a:ext cx="11091672" cy="1783080"/>
          </a:xfrm>
          <a:prstGeom prst="roundRect">
            <a:avLst>
              <a:gd name="adj" fmla="val 6154"/>
            </a:avLst>
          </a:prstGeom>
          <a:solidFill>
            <a:schemeClr val="bg2"/>
          </a:solidFill>
          <a:ln w="12700">
            <a:solidFill>
              <a:schemeClr val="bg2"/>
            </a:solidFill>
            <a:prstDash val="solid"/>
          </a:ln>
        </p:spPr>
      </p:sp>
      <p:sp>
        <p:nvSpPr>
          <p:cNvPr id="4" name="Heading: Phase-I Status"/>
          <p:cNvSpPr txBox="1"/>
          <p:nvPr/>
        </p:nvSpPr>
        <p:spPr>
          <a:xfrm>
            <a:off x="777240" y="1572768"/>
            <a:ext cx="4572000" cy="411480"/>
          </a:xfrm>
          <a:prstGeom prst="rect">
            <a:avLst/>
          </a:prstGeom>
          <a:noFill/>
          <a:ln/>
        </p:spPr>
        <p:txBody>
          <a:bodyPr wrap="square" lIns="0" tIns="0" rIns="0" bIns="0" rtlCol="0" anchor="ctr"/>
          <a:lstStyle/>
          <a:p>
            <a:pPr indent="0" marL="0">
              <a:buNone/>
            </a:pPr>
            <a:r>
              <a:rPr lang="en-US" sz="2000" b="1" dirty="0">
                <a:solidFill>
                  <a:schemeClr val="tx2"/>
                </a:solidFill>
              </a:rPr>
              <a:t>Phase-I Status</a:t>
            </a:r>
            <a:endParaRPr lang="en-US" sz="2000" dirty="0"/>
          </a:p>
        </p:txBody>
      </p:sp>
      <p:sp>
        <p:nvSpPr>
          <p:cNvPr id="5" name="Label: Proposed:"/>
          <p:cNvSpPr txBox="1"/>
          <p:nvPr/>
        </p:nvSpPr>
        <p:spPr>
          <a:xfrm>
            <a:off x="777240" y="2011680"/>
            <a:ext cx="1188720" cy="566928"/>
          </a:xfrm>
          <a:prstGeom prst="rect">
            <a:avLst/>
          </a:prstGeom>
          <a:noFill/>
          <a:ln/>
        </p:spPr>
        <p:txBody>
          <a:bodyPr wrap="square" lIns="0" tIns="0" rIns="0" bIns="0" rtlCol="0" anchor="ctr"/>
          <a:lstStyle/>
          <a:p>
            <a:pPr indent="0" marL="0">
              <a:buNone/>
            </a:pPr>
            <a:r>
              <a:rPr lang="en-US" sz="1600" b="1" dirty="0">
                <a:solidFill>
                  <a:schemeClr val="tx1"/>
                </a:solidFill>
              </a:rPr>
              <a:t>Proposed:</a:t>
            </a:r>
            <a:endParaRPr lang="en-US" sz="1600" dirty="0"/>
          </a:p>
        </p:txBody>
      </p:sp>
      <p:sp>
        <p:nvSpPr>
          <p:cNvPr id="6" name="Value: Proposed:"/>
          <p:cNvSpPr txBox="1"/>
          <p:nvPr/>
        </p:nvSpPr>
        <p:spPr>
          <a:xfrm>
            <a:off x="2057400" y="2011680"/>
            <a:ext cx="9418320" cy="566928"/>
          </a:xfrm>
          <a:prstGeom prst="rect">
            <a:avLst/>
          </a:prstGeom>
          <a:noFill/>
          <a:ln/>
        </p:spPr>
        <p:txBody>
          <a:bodyPr wrap="square" lIns="0" tIns="0" rIns="0" bIns="0" rtlCol="0" anchor="ctr"/>
          <a:lstStyle/>
          <a:p>
            <a:pPr indent="0" marL="0">
              <a:buNone/>
            </a:pPr>
            <a:r>
              <a:rPr lang="en-US" sz="1600" dirty="0">
                <a:solidFill>
                  <a:schemeClr val="tx1"/>
                </a:solidFill>
              </a:rPr>
              <a:t>a 2D murder-mystery game in C++ with Qt and SQLite, with several cases, using graphs with BFS/DFS, hashing, a stack and sorting in the investigation logic.</a:t>
            </a:r>
            <a:endParaRPr lang="en-US" sz="1600" dirty="0"/>
          </a:p>
        </p:txBody>
      </p:sp>
      <p:sp>
        <p:nvSpPr>
          <p:cNvPr id="7" name="Label: Achieved:"/>
          <p:cNvSpPr txBox="1"/>
          <p:nvPr/>
        </p:nvSpPr>
        <p:spPr>
          <a:xfrm>
            <a:off x="777240" y="2615184"/>
            <a:ext cx="1188720" cy="365760"/>
          </a:xfrm>
          <a:prstGeom prst="rect">
            <a:avLst/>
          </a:prstGeom>
          <a:noFill/>
          <a:ln/>
        </p:spPr>
        <p:txBody>
          <a:bodyPr wrap="square" lIns="0" tIns="0" rIns="0" bIns="0" rtlCol="0" anchor="ctr"/>
          <a:lstStyle/>
          <a:p>
            <a:pPr indent="0" marL="0">
              <a:buNone/>
            </a:pPr>
            <a:r>
              <a:rPr lang="en-US" sz="1600" b="1" dirty="0">
                <a:solidFill>
                  <a:schemeClr val="tx1"/>
                </a:solidFill>
              </a:rPr>
              <a:t>Achieved:</a:t>
            </a:r>
            <a:endParaRPr lang="en-US" sz="1600" dirty="0"/>
          </a:p>
        </p:txBody>
      </p:sp>
      <p:sp>
        <p:nvSpPr>
          <p:cNvPr id="8" name="Value: Achieved:"/>
          <p:cNvSpPr txBox="1"/>
          <p:nvPr/>
        </p:nvSpPr>
        <p:spPr>
          <a:xfrm>
            <a:off x="2057400" y="2615184"/>
            <a:ext cx="9418320" cy="365760"/>
          </a:xfrm>
          <a:prstGeom prst="rect">
            <a:avLst/>
          </a:prstGeom>
          <a:noFill/>
          <a:ln/>
        </p:spPr>
        <p:txBody>
          <a:bodyPr wrap="square" lIns="0" tIns="0" rIns="0" bIns="0" rtlCol="0" anchor="ctr"/>
          <a:lstStyle/>
          <a:p>
            <a:pPr indent="0" marL="0">
              <a:buNone/>
            </a:pPr>
            <a:r>
              <a:rPr lang="en-US" sz="1600" dirty="0">
                <a:solidFill>
                  <a:schemeClr val="tx1"/>
                </a:solidFill>
              </a:rPr>
              <a:t>the idea, objectives, architecture plan and technology selection.</a:t>
            </a:r>
            <a:endParaRPr lang="en-US" sz="1600" dirty="0"/>
          </a:p>
        </p:txBody>
      </p:sp>
      <p:sp>
        <p:nvSpPr>
          <p:cNvPr id="9" name="Heading: Feedback Received"/>
          <p:cNvSpPr txBox="1"/>
          <p:nvPr/>
        </p:nvSpPr>
        <p:spPr>
          <a:xfrm>
            <a:off x="548640" y="3520440"/>
            <a:ext cx="5303520" cy="411480"/>
          </a:xfrm>
          <a:prstGeom prst="rect">
            <a:avLst/>
          </a:prstGeom>
          <a:noFill/>
          <a:ln/>
        </p:spPr>
        <p:txBody>
          <a:bodyPr wrap="square" lIns="0" tIns="0" rIns="0" bIns="0" rtlCol="0" anchor="ctr"/>
          <a:lstStyle/>
          <a:p>
            <a:pPr indent="0" marL="0">
              <a:buNone/>
            </a:pPr>
            <a:r>
              <a:rPr lang="en-US" sz="2200" b="1" dirty="0">
                <a:solidFill>
                  <a:schemeClr val="tx2"/>
                </a:solidFill>
              </a:rPr>
              <a:t>Feedback Received</a:t>
            </a:r>
            <a:endParaRPr lang="en-US" sz="2200" dirty="0"/>
          </a:p>
        </p:txBody>
      </p:sp>
      <p:sp>
        <p:nvSpPr>
          <p:cNvPr id="10" name="Feedback list"/>
          <p:cNvSpPr txBox="1"/>
          <p:nvPr/>
        </p:nvSpPr>
        <p:spPr>
          <a:xfrm>
            <a:off x="548640" y="4023360"/>
            <a:ext cx="5212080" cy="219456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B2430"/>
                </a:solidFill>
              </a:rPr>
              <a:t>Earlier we planned multiple cases; our mentor advised a simpler scope with just one case</a:t>
            </a:r>
            <a:endParaRPr lang="en-US" sz="1600" dirty="0"/>
          </a:p>
          <a:p>
            <a:pPr marL="342900" indent="-342900">
              <a:spcAft>
                <a:spcPts val="1400"/>
              </a:spcAft>
              <a:buSzPct val="100000"/>
              <a:buChar char="▶"/>
            </a:pPr>
            <a:r>
              <a:rPr lang="en-US" sz="1600" dirty="0">
                <a:solidFill>
                  <a:srgbClr val="1B2430"/>
                </a:solidFill>
              </a:rPr>
              <a:t>Focus more on Data Structures and Algorithms, since PBL is mainly about DSA, instead of showing many different things</a:t>
            </a:r>
            <a:endParaRPr lang="en-US" sz="1600" dirty="0"/>
          </a:p>
        </p:txBody>
      </p:sp>
      <p:sp>
        <p:nvSpPr>
          <p:cNvPr id="11" name="Heading: Changes Incorporated"/>
          <p:cNvSpPr txBox="1"/>
          <p:nvPr/>
        </p:nvSpPr>
        <p:spPr>
          <a:xfrm>
            <a:off x="6309360" y="3520440"/>
            <a:ext cx="5303520" cy="411480"/>
          </a:xfrm>
          <a:prstGeom prst="rect">
            <a:avLst/>
          </a:prstGeom>
          <a:noFill/>
          <a:ln/>
        </p:spPr>
        <p:txBody>
          <a:bodyPr wrap="square" lIns="0" tIns="0" rIns="0" bIns="0" rtlCol="0" anchor="ctr"/>
          <a:lstStyle/>
          <a:p>
            <a:pPr indent="0" marL="0">
              <a:buNone/>
            </a:pPr>
            <a:r>
              <a:rPr lang="en-US" sz="2200" b="1" dirty="0">
                <a:solidFill>
                  <a:schemeClr val="tx2"/>
                </a:solidFill>
              </a:rPr>
              <a:t>Changes Incorporated</a:t>
            </a:r>
            <a:endParaRPr lang="en-US" sz="2200" dirty="0"/>
          </a:p>
        </p:txBody>
      </p:sp>
      <p:sp>
        <p:nvSpPr>
          <p:cNvPr id="12" name="Changes list"/>
          <p:cNvSpPr txBox="1"/>
          <p:nvPr/>
        </p:nvSpPr>
        <p:spPr>
          <a:xfrm>
            <a:off x="6309360" y="4023360"/>
            <a:ext cx="5330952" cy="228600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B2430"/>
                </a:solidFill>
              </a:rPr>
              <a:t>Scope simplified: one complete, polished case (The Old Way) instead of several</a:t>
            </a:r>
            <a:endParaRPr lang="en-US" sz="1600" dirty="0"/>
          </a:p>
          <a:p>
            <a:pPr marL="342900" indent="-342900">
              <a:spcAft>
                <a:spcPts val="1400"/>
              </a:spcAft>
              <a:buSzPct val="100000"/>
              <a:buChar char="▶"/>
            </a:pPr>
            <a:r>
              <a:rPr lang="en-US" sz="1600" dirty="0">
                <a:solidFill>
                  <a:srgbClr val="1B2430"/>
                </a:solidFill>
              </a:rPr>
              <a:t>DSA is now the core: graph + BFS, DAG + topological sort, hash tables and a stack drive the game logic</a:t>
            </a:r>
            <a:endParaRPr lang="en-US" sz="1600" dirty="0"/>
          </a:p>
          <a:p>
            <a:pPr marL="342900" indent="-342900">
              <a:spcAft>
                <a:spcPts val="1400"/>
              </a:spcAft>
              <a:buSzPct val="100000"/>
              <a:buChar char="▶"/>
            </a:pPr>
            <a:r>
              <a:rPr lang="en-US" sz="1600" dirty="0">
                <a:solidFill>
                  <a:srgbClr val="1B2430"/>
                </a:solidFill>
              </a:rPr>
              <a:t>A validator built on those algorithms proves the case is solvable with one culprit</a:t>
            </a:r>
            <a:endParaRPr lang="en-US" sz="16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Problem Statement &amp; Finalized Objectives</a:t>
            </a:r>
            <a:endParaRPr lang="en-US" sz="3200" dirty="0"/>
          </a:p>
        </p:txBody>
      </p:sp>
      <p:sp>
        <p:nvSpPr>
          <p:cNvPr id="3" name="Problem statement card"/>
          <p:cNvSpPr/>
          <p:nvPr/>
        </p:nvSpPr>
        <p:spPr>
          <a:xfrm>
            <a:off x="548640" y="1463040"/>
            <a:ext cx="11091672" cy="1691640"/>
          </a:xfrm>
          <a:prstGeom prst="roundRect">
            <a:avLst>
              <a:gd name="adj" fmla="val 6486"/>
            </a:avLst>
          </a:prstGeom>
          <a:solidFill>
            <a:schemeClr val="bg2"/>
          </a:solidFill>
          <a:ln w="12700">
            <a:solidFill>
              <a:schemeClr val="bg2"/>
            </a:solidFill>
            <a:prstDash val="solid"/>
          </a:ln>
        </p:spPr>
      </p:sp>
      <p:sp>
        <p:nvSpPr>
          <p:cNvPr id="4" name="Heading: Problem Statement"/>
          <p:cNvSpPr txBox="1"/>
          <p:nvPr/>
        </p:nvSpPr>
        <p:spPr>
          <a:xfrm>
            <a:off x="777240" y="1572768"/>
            <a:ext cx="5486400" cy="411480"/>
          </a:xfrm>
          <a:prstGeom prst="rect">
            <a:avLst/>
          </a:prstGeom>
          <a:noFill/>
          <a:ln/>
        </p:spPr>
        <p:txBody>
          <a:bodyPr wrap="square" lIns="0" tIns="0" rIns="0" bIns="0" rtlCol="0" anchor="ctr"/>
          <a:lstStyle/>
          <a:p>
            <a:pPr indent="0" marL="0">
              <a:buNone/>
            </a:pPr>
            <a:r>
              <a:rPr lang="en-US" sz="2000" b="1" dirty="0">
                <a:solidFill>
                  <a:schemeClr val="tx2"/>
                </a:solidFill>
              </a:rPr>
              <a:t>Problem Statement</a:t>
            </a:r>
            <a:endParaRPr lang="en-US" sz="2000" dirty="0"/>
          </a:p>
        </p:txBody>
      </p:sp>
      <p:sp>
        <p:nvSpPr>
          <p:cNvPr id="5" name="Problem statement text"/>
          <p:cNvSpPr txBox="1"/>
          <p:nvPr/>
        </p:nvSpPr>
        <p:spPr>
          <a:xfrm>
            <a:off x="777240" y="2011680"/>
            <a:ext cx="10607040" cy="1051560"/>
          </a:xfrm>
          <a:prstGeom prst="rect">
            <a:avLst/>
          </a:prstGeom>
          <a:noFill/>
          <a:ln/>
        </p:spPr>
        <p:txBody>
          <a:bodyPr wrap="square" lIns="0" tIns="0" rIns="0" bIns="0" rtlCol="0" anchor="t"/>
          <a:lstStyle/>
          <a:p>
            <a:pPr indent="0" marL="0">
              <a:buNone/>
            </a:pPr>
            <a:r>
              <a:rPr lang="en-US" sz="1600" dirty="0">
                <a:solidFill>
                  <a:schemeClr val="tx1"/>
                </a:solidFill>
              </a:rPr>
              <a:t>Most detective games either hand the player the answer or hide the logic. We want a mystery the player must reason through: earning every clue, catching lies by cross-examination and using school science, while data structures and algorithms drive the game itself.</a:t>
            </a:r>
            <a:endParaRPr lang="en-US" sz="1600" dirty="0"/>
          </a:p>
        </p:txBody>
      </p:sp>
      <p:sp>
        <p:nvSpPr>
          <p:cNvPr id="6" name="Heading: Finalized Objectives"/>
          <p:cNvSpPr txBox="1"/>
          <p:nvPr/>
        </p:nvSpPr>
        <p:spPr>
          <a:xfrm>
            <a:off x="548640" y="3429000"/>
            <a:ext cx="5486400" cy="411480"/>
          </a:xfrm>
          <a:prstGeom prst="rect">
            <a:avLst/>
          </a:prstGeom>
          <a:noFill/>
          <a:ln/>
        </p:spPr>
        <p:txBody>
          <a:bodyPr wrap="square" lIns="0" tIns="0" rIns="0" bIns="0" rtlCol="0" anchor="ctr"/>
          <a:lstStyle/>
          <a:p>
            <a:pPr indent="0" marL="0">
              <a:buNone/>
            </a:pPr>
            <a:r>
              <a:rPr lang="en-US" sz="2200" b="1" dirty="0">
                <a:solidFill>
                  <a:schemeClr val="tx2"/>
                </a:solidFill>
              </a:rPr>
              <a:t>Finalized Objectives</a:t>
            </a:r>
            <a:endParaRPr lang="en-US" sz="2200" dirty="0"/>
          </a:p>
        </p:txBody>
      </p:sp>
      <p:sp>
        <p:nvSpPr>
          <p:cNvPr id="7" name="Objective card 1"/>
          <p:cNvSpPr/>
          <p:nvPr/>
        </p:nvSpPr>
        <p:spPr>
          <a:xfrm>
            <a:off x="548640" y="3977640"/>
            <a:ext cx="2651760" cy="2194560"/>
          </a:xfrm>
          <a:prstGeom prst="roundRect">
            <a:avLst>
              <a:gd name="adj" fmla="val 5000"/>
            </a:avLst>
          </a:prstGeom>
          <a:solidFill>
            <a:schemeClr val="bg2"/>
          </a:solidFill>
          <a:ln w="12700">
            <a:solidFill>
              <a:schemeClr val="bg2"/>
            </a:solidFill>
            <a:prstDash val="solid"/>
          </a:ln>
        </p:spPr>
      </p:sp>
      <p:sp>
        <p:nvSpPr>
          <p:cNvPr id="8" name="Number 1"/>
          <p:cNvSpPr/>
          <p:nvPr/>
        </p:nvSpPr>
        <p:spPr>
          <a:xfrm>
            <a:off x="731520" y="4114800"/>
            <a:ext cx="502920" cy="502920"/>
          </a:xfrm>
          <a:prstGeom prst="ellipse">
            <a:avLst/>
          </a:prstGeom>
          <a:solidFill>
            <a:schemeClr val="tx2"/>
          </a:solidFill>
          <a:ln w="12700">
            <a:solidFill>
              <a:schemeClr val="tx2"/>
            </a:solidFill>
            <a:prstDash val="solid"/>
          </a:ln>
        </p:spPr>
      </p:sp>
      <p:sp>
        <p:nvSpPr>
          <p:cNvPr id="9" name="Text 7"/>
          <p:cNvSpPr txBox="1"/>
          <p:nvPr/>
        </p:nvSpPr>
        <p:spPr>
          <a:xfrm>
            <a:off x="731520" y="4114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0" name="Objective text 1"/>
          <p:cNvSpPr txBox="1"/>
          <p:nvPr/>
        </p:nvSpPr>
        <p:spPr>
          <a:xfrm>
            <a:off x="731520" y="4709160"/>
            <a:ext cx="2286000" cy="1371600"/>
          </a:xfrm>
          <a:prstGeom prst="rect">
            <a:avLst/>
          </a:prstGeom>
          <a:noFill/>
          <a:ln/>
        </p:spPr>
        <p:txBody>
          <a:bodyPr wrap="square" lIns="0" tIns="0" rIns="0" bIns="0" rtlCol="0" anchor="t"/>
          <a:lstStyle/>
          <a:p>
            <a:pPr indent="0" marL="0">
              <a:buNone/>
            </a:pPr>
            <a:r>
              <a:rPr lang="en-US" sz="1400" dirty="0">
                <a:solidFill>
                  <a:schemeClr val="tx1"/>
                </a:solidFill>
              </a:rPr>
              <a:t>Apply graphs (BFS), a DAG (topological sort), hashing and a stack inside the game logic, with complexity analysis</a:t>
            </a:r>
            <a:endParaRPr lang="en-US" sz="1400" dirty="0"/>
          </a:p>
        </p:txBody>
      </p:sp>
      <p:sp>
        <p:nvSpPr>
          <p:cNvPr id="11" name="Objective card 2"/>
          <p:cNvSpPr/>
          <p:nvPr/>
        </p:nvSpPr>
        <p:spPr>
          <a:xfrm>
            <a:off x="3346704" y="3977640"/>
            <a:ext cx="2651760" cy="2194560"/>
          </a:xfrm>
          <a:prstGeom prst="roundRect">
            <a:avLst>
              <a:gd name="adj" fmla="val 5000"/>
            </a:avLst>
          </a:prstGeom>
          <a:solidFill>
            <a:schemeClr val="bg2"/>
          </a:solidFill>
          <a:ln w="12700">
            <a:solidFill>
              <a:schemeClr val="bg2"/>
            </a:solidFill>
            <a:prstDash val="solid"/>
          </a:ln>
        </p:spPr>
      </p:sp>
      <p:sp>
        <p:nvSpPr>
          <p:cNvPr id="12" name="Number 2"/>
          <p:cNvSpPr/>
          <p:nvPr/>
        </p:nvSpPr>
        <p:spPr>
          <a:xfrm>
            <a:off x="3529584" y="4114800"/>
            <a:ext cx="502920" cy="502920"/>
          </a:xfrm>
          <a:prstGeom prst="ellipse">
            <a:avLst/>
          </a:prstGeom>
          <a:solidFill>
            <a:schemeClr val="tx2"/>
          </a:solidFill>
          <a:ln w="12700">
            <a:solidFill>
              <a:schemeClr val="tx2"/>
            </a:solidFill>
            <a:prstDash val="solid"/>
          </a:ln>
        </p:spPr>
      </p:sp>
      <p:sp>
        <p:nvSpPr>
          <p:cNvPr id="13" name="Text 11"/>
          <p:cNvSpPr txBox="1"/>
          <p:nvPr/>
        </p:nvSpPr>
        <p:spPr>
          <a:xfrm>
            <a:off x="3529584" y="4114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Objective text 2"/>
          <p:cNvSpPr txBox="1"/>
          <p:nvPr/>
        </p:nvSpPr>
        <p:spPr>
          <a:xfrm>
            <a:off x="3529584" y="4709160"/>
            <a:ext cx="2286000" cy="1371600"/>
          </a:xfrm>
          <a:prstGeom prst="rect">
            <a:avLst/>
          </a:prstGeom>
          <a:noFill/>
          <a:ln/>
        </p:spPr>
        <p:txBody>
          <a:bodyPr wrap="square" lIns="0" tIns="0" rIns="0" bIns="0" rtlCol="0" anchor="t"/>
          <a:lstStyle/>
          <a:p>
            <a:pPr indent="0" marL="0">
              <a:buNone/>
            </a:pPr>
            <a:r>
              <a:rPr lang="en-US" sz="1400" dirty="0">
                <a:solidFill>
                  <a:schemeClr val="tx1"/>
                </a:solidFill>
              </a:rPr>
              <a:t>Prove the mystery is fair: a validator checks every clue is reachable and one culprit is provable</a:t>
            </a:r>
            <a:endParaRPr lang="en-US" sz="1400" dirty="0"/>
          </a:p>
        </p:txBody>
      </p:sp>
      <p:sp>
        <p:nvSpPr>
          <p:cNvPr id="15" name="Objective card 3"/>
          <p:cNvSpPr/>
          <p:nvPr/>
        </p:nvSpPr>
        <p:spPr>
          <a:xfrm>
            <a:off x="6144768" y="3977640"/>
            <a:ext cx="2651760" cy="2194560"/>
          </a:xfrm>
          <a:prstGeom prst="roundRect">
            <a:avLst>
              <a:gd name="adj" fmla="val 5000"/>
            </a:avLst>
          </a:prstGeom>
          <a:solidFill>
            <a:schemeClr val="bg2"/>
          </a:solidFill>
          <a:ln w="12700">
            <a:solidFill>
              <a:schemeClr val="bg2"/>
            </a:solidFill>
            <a:prstDash val="solid"/>
          </a:ln>
        </p:spPr>
      </p:sp>
      <p:sp>
        <p:nvSpPr>
          <p:cNvPr id="16" name="Number 3"/>
          <p:cNvSpPr/>
          <p:nvPr/>
        </p:nvSpPr>
        <p:spPr>
          <a:xfrm>
            <a:off x="6327648" y="4114800"/>
            <a:ext cx="502920" cy="502920"/>
          </a:xfrm>
          <a:prstGeom prst="ellipse">
            <a:avLst/>
          </a:prstGeom>
          <a:solidFill>
            <a:schemeClr val="tx2"/>
          </a:solidFill>
          <a:ln w="12700">
            <a:solidFill>
              <a:schemeClr val="tx2"/>
            </a:solidFill>
            <a:prstDash val="solid"/>
          </a:ln>
        </p:spPr>
      </p:sp>
      <p:sp>
        <p:nvSpPr>
          <p:cNvPr id="17" name="Text 15"/>
          <p:cNvSpPr txBox="1"/>
          <p:nvPr/>
        </p:nvSpPr>
        <p:spPr>
          <a:xfrm>
            <a:off x="6327648" y="4114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Objective text 3"/>
          <p:cNvSpPr txBox="1"/>
          <p:nvPr/>
        </p:nvSpPr>
        <p:spPr>
          <a:xfrm>
            <a:off x="6327648" y="4709160"/>
            <a:ext cx="2286000" cy="1371600"/>
          </a:xfrm>
          <a:prstGeom prst="rect">
            <a:avLst/>
          </a:prstGeom>
          <a:noFill/>
          <a:ln/>
        </p:spPr>
        <p:txBody>
          <a:bodyPr wrap="square" lIns="0" tIns="0" rIns="0" bIns="0" rtlCol="0" anchor="t"/>
          <a:lstStyle/>
          <a:p>
            <a:pPr indent="0" marL="0">
              <a:buNone/>
            </a:pPr>
            <a:r>
              <a:rPr lang="en-US" sz="1400" dirty="0">
                <a:solidFill>
                  <a:schemeClr val="tx1"/>
                </a:solidFill>
              </a:rPr>
              <a:t>Deliver one complete, playable case: 7 rooms, 6 characters, 23 pieces of evidence</a:t>
            </a:r>
            <a:endParaRPr lang="en-US" sz="1400" dirty="0"/>
          </a:p>
        </p:txBody>
      </p:sp>
      <p:sp>
        <p:nvSpPr>
          <p:cNvPr id="19" name="Objective card 4"/>
          <p:cNvSpPr/>
          <p:nvPr/>
        </p:nvSpPr>
        <p:spPr>
          <a:xfrm>
            <a:off x="8942832" y="3977640"/>
            <a:ext cx="2651760" cy="2194560"/>
          </a:xfrm>
          <a:prstGeom prst="roundRect">
            <a:avLst>
              <a:gd name="adj" fmla="val 5000"/>
            </a:avLst>
          </a:prstGeom>
          <a:solidFill>
            <a:schemeClr val="bg2"/>
          </a:solidFill>
          <a:ln w="12700">
            <a:solidFill>
              <a:schemeClr val="bg2"/>
            </a:solidFill>
            <a:prstDash val="solid"/>
          </a:ln>
        </p:spPr>
      </p:sp>
      <p:sp>
        <p:nvSpPr>
          <p:cNvPr id="20" name="Number 4"/>
          <p:cNvSpPr/>
          <p:nvPr/>
        </p:nvSpPr>
        <p:spPr>
          <a:xfrm>
            <a:off x="9125712" y="4114800"/>
            <a:ext cx="502920" cy="502920"/>
          </a:xfrm>
          <a:prstGeom prst="ellipse">
            <a:avLst/>
          </a:prstGeom>
          <a:solidFill>
            <a:schemeClr val="tx2"/>
          </a:solidFill>
          <a:ln w="12700">
            <a:solidFill>
              <a:schemeClr val="tx2"/>
            </a:solidFill>
            <a:prstDash val="solid"/>
          </a:ln>
        </p:spPr>
      </p:sp>
      <p:sp>
        <p:nvSpPr>
          <p:cNvPr id="21" name="Text 19"/>
          <p:cNvSpPr txBox="1"/>
          <p:nvPr/>
        </p:nvSpPr>
        <p:spPr>
          <a:xfrm>
            <a:off x="9125712" y="4114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Objective text 4"/>
          <p:cNvSpPr txBox="1"/>
          <p:nvPr/>
        </p:nvSpPr>
        <p:spPr>
          <a:xfrm>
            <a:off x="9125712" y="4709160"/>
            <a:ext cx="2286000" cy="1371600"/>
          </a:xfrm>
          <a:prstGeom prst="rect">
            <a:avLst/>
          </a:prstGeom>
          <a:noFill/>
          <a:ln/>
        </p:spPr>
        <p:txBody>
          <a:bodyPr wrap="square" lIns="0" tIns="0" rIns="0" bIns="0" rtlCol="0" anchor="t"/>
          <a:lstStyle/>
          <a:p>
            <a:pPr indent="0" marL="0">
              <a:buNone/>
            </a:pPr>
            <a:r>
              <a:rPr lang="en-US" sz="1400" dirty="0">
                <a:solidFill>
                  <a:schemeClr val="tx1"/>
                </a:solidFill>
              </a:rPr>
              <a:t>Add SQLite storage and measure playability with 5 to 10 playtesters (Phase-III)</a:t>
            </a:r>
            <a:endParaRPr lang="en-US" sz="14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Updated System Architecture / Workflow</a:t>
            </a:r>
            <a:endParaRPr lang="en-US" sz="3200" dirty="0"/>
          </a:p>
        </p:txBody>
      </p:sp>
      <p:sp>
        <p:nvSpPr>
          <p:cNvPr id="3" name="Layer: Input Layer"/>
          <p:cNvSpPr/>
          <p:nvPr/>
        </p:nvSpPr>
        <p:spPr>
          <a:xfrm>
            <a:off x="548640" y="1463040"/>
            <a:ext cx="2011680" cy="2423160"/>
          </a:xfrm>
          <a:prstGeom prst="roundRect">
            <a:avLst>
              <a:gd name="adj" fmla="val 5455"/>
            </a:avLst>
          </a:prstGeom>
          <a:solidFill>
            <a:schemeClr val="bg2"/>
          </a:solidFill>
          <a:ln w="12700">
            <a:solidFill>
              <a:schemeClr val="tx2"/>
            </a:solidFill>
            <a:prstDash val="solid"/>
          </a:ln>
        </p:spPr>
      </p:sp>
      <p:sp>
        <p:nvSpPr>
          <p:cNvPr id="4" name="Input Layer icon circle"/>
          <p:cNvSpPr/>
          <p:nvPr/>
        </p:nvSpPr>
        <p:spPr>
          <a:xfrm>
            <a:off x="1261872" y="1572768"/>
            <a:ext cx="585216" cy="585216"/>
          </a:xfrm>
          <a:prstGeom prst="ellipse">
            <a:avLst/>
          </a:prstGeom>
          <a:solidFill>
            <a:schemeClr val="tx2"/>
          </a:solidFill>
          <a:ln w="12700">
            <a:solidFill>
              <a:schemeClr val="tx2"/>
            </a:solidFill>
            <a:prstDash val="solid"/>
          </a:ln>
        </p:spPr>
      </p:sp>
      <p:pic>
        <p:nvPicPr>
          <p:cNvPr id="5" name="Input Layer icon" descr="Input Layer icon">    </p:cNvPr>
          <p:cNvPicPr>
            <a:picLocks noChangeAspect="1"/>
          </p:cNvPicPr>
          <p:nvPr/>
        </p:nvPicPr>
        <p:blipFill>
          <a:blip r:embed="rId1"/>
          <a:stretch>
            <a:fillRect/>
          </a:stretch>
        </p:blipFill>
        <p:spPr>
          <a:xfrm>
            <a:off x="1402324" y="1713220"/>
            <a:ext cx="304312" cy="304312"/>
          </a:xfrm>
          <a:prstGeom prst="rect">
            <a:avLst/>
          </a:prstGeom>
        </p:spPr>
      </p:pic>
      <p:sp>
        <p:nvSpPr>
          <p:cNvPr id="6" name="Text 3"/>
          <p:cNvSpPr txBox="1"/>
          <p:nvPr/>
        </p:nvSpPr>
        <p:spPr>
          <a:xfrm>
            <a:off x="548640" y="2240280"/>
            <a:ext cx="2011680" cy="320040"/>
          </a:xfrm>
          <a:prstGeom prst="rect">
            <a:avLst/>
          </a:prstGeom>
          <a:noFill/>
          <a:ln/>
        </p:spPr>
        <p:txBody>
          <a:bodyPr wrap="square" lIns="0" tIns="0" rIns="0" bIns="0" rtlCol="0" anchor="ctr"/>
          <a:lstStyle/>
          <a:p>
            <a:pPr algn="ctr" indent="0" marL="0">
              <a:buNone/>
            </a:pPr>
            <a:r>
              <a:rPr lang="en-US" sz="1500" b="1" dirty="0">
                <a:solidFill>
                  <a:schemeClr val="tx2"/>
                </a:solidFill>
              </a:rPr>
              <a:t>Input Layer</a:t>
            </a:r>
            <a:endParaRPr lang="en-US" sz="1500" dirty="0"/>
          </a:p>
        </p:txBody>
      </p:sp>
      <p:sp>
        <p:nvSpPr>
          <p:cNvPr id="7" name="Layer text 1"/>
          <p:cNvSpPr txBox="1"/>
          <p:nvPr/>
        </p:nvSpPr>
        <p:spPr>
          <a:xfrm>
            <a:off x="658368" y="2578608"/>
            <a:ext cx="1792224" cy="1234440"/>
          </a:xfrm>
          <a:prstGeom prst="rect">
            <a:avLst/>
          </a:prstGeom>
          <a:noFill/>
          <a:ln/>
        </p:spPr>
        <p:txBody>
          <a:bodyPr wrap="square" lIns="0" tIns="0" rIns="0" bIns="0" rtlCol="0" anchor="t"/>
          <a:lstStyle/>
          <a:p>
            <a:pPr algn="l" indent="0" marL="0">
              <a:buNone/>
            </a:pPr>
            <a:r>
              <a:rPr lang="en-US" sz="1300" dirty="0">
                <a:solidFill>
                  <a:schemeClr val="tx1"/>
                </a:solidFill>
              </a:rPr>
              <a:t>Keyboard: move, interact, dossier, lab, accuse</a:t>
            </a:r>
            <a:endParaRPr lang="en-US" sz="1300" dirty="0"/>
          </a:p>
        </p:txBody>
      </p:sp>
      <p:sp>
        <p:nvSpPr>
          <p:cNvPr id="8" name="Arrow 1"/>
          <p:cNvSpPr/>
          <p:nvPr/>
        </p:nvSpPr>
        <p:spPr>
          <a:xfrm>
            <a:off x="2578608" y="2542032"/>
            <a:ext cx="219456" cy="274320"/>
          </a:xfrm>
          <a:prstGeom prst="rightArrow">
            <a:avLst/>
          </a:prstGeom>
          <a:solidFill>
            <a:schemeClr val="tx2"/>
          </a:solidFill>
          <a:ln w="12700">
            <a:solidFill>
              <a:schemeClr val="tx2"/>
            </a:solidFill>
            <a:prstDash val="solid"/>
          </a:ln>
        </p:spPr>
      </p:sp>
      <p:sp>
        <p:nvSpPr>
          <p:cNvPr id="9" name="Layer: Processing Layer"/>
          <p:cNvSpPr/>
          <p:nvPr/>
        </p:nvSpPr>
        <p:spPr>
          <a:xfrm>
            <a:off x="2816352" y="1463040"/>
            <a:ext cx="2011680" cy="2423160"/>
          </a:xfrm>
          <a:prstGeom prst="roundRect">
            <a:avLst>
              <a:gd name="adj" fmla="val 5455"/>
            </a:avLst>
          </a:prstGeom>
          <a:solidFill>
            <a:schemeClr val="bg2"/>
          </a:solidFill>
          <a:ln w="12700">
            <a:solidFill>
              <a:schemeClr val="tx2"/>
            </a:solidFill>
            <a:prstDash val="solid"/>
          </a:ln>
        </p:spPr>
      </p:sp>
      <p:sp>
        <p:nvSpPr>
          <p:cNvPr id="10" name="Processing Layer icon circle"/>
          <p:cNvSpPr/>
          <p:nvPr/>
        </p:nvSpPr>
        <p:spPr>
          <a:xfrm>
            <a:off x="3529584" y="1572768"/>
            <a:ext cx="585216" cy="585216"/>
          </a:xfrm>
          <a:prstGeom prst="ellipse">
            <a:avLst/>
          </a:prstGeom>
          <a:solidFill>
            <a:schemeClr val="tx2"/>
          </a:solidFill>
          <a:ln w="12700">
            <a:solidFill>
              <a:schemeClr val="tx2"/>
            </a:solidFill>
            <a:prstDash val="solid"/>
          </a:ln>
        </p:spPr>
      </p:sp>
      <p:pic>
        <p:nvPicPr>
          <p:cNvPr id="11" name="Processing Layer icon" descr="Processing Layer icon">    </p:cNvPr>
          <p:cNvPicPr>
            <a:picLocks noChangeAspect="1"/>
          </p:cNvPicPr>
          <p:nvPr/>
        </p:nvPicPr>
        <p:blipFill>
          <a:blip r:embed="rId2"/>
          <a:stretch>
            <a:fillRect/>
          </a:stretch>
        </p:blipFill>
        <p:spPr>
          <a:xfrm>
            <a:off x="3670036" y="1713220"/>
            <a:ext cx="304312" cy="304312"/>
          </a:xfrm>
          <a:prstGeom prst="rect">
            <a:avLst/>
          </a:prstGeom>
        </p:spPr>
      </p:pic>
      <p:sp>
        <p:nvSpPr>
          <p:cNvPr id="12" name="Text 8"/>
          <p:cNvSpPr txBox="1"/>
          <p:nvPr/>
        </p:nvSpPr>
        <p:spPr>
          <a:xfrm>
            <a:off x="2816352" y="2240280"/>
            <a:ext cx="2011680" cy="320040"/>
          </a:xfrm>
          <a:prstGeom prst="rect">
            <a:avLst/>
          </a:prstGeom>
          <a:noFill/>
          <a:ln/>
        </p:spPr>
        <p:txBody>
          <a:bodyPr wrap="square" lIns="0" tIns="0" rIns="0" bIns="0" rtlCol="0" anchor="ctr"/>
          <a:lstStyle/>
          <a:p>
            <a:pPr algn="ctr" indent="0" marL="0">
              <a:buNone/>
            </a:pPr>
            <a:r>
              <a:rPr lang="en-US" sz="1500" b="1" dirty="0">
                <a:solidFill>
                  <a:schemeClr val="tx2"/>
                </a:solidFill>
              </a:rPr>
              <a:t>Processing Layer</a:t>
            </a:r>
            <a:endParaRPr lang="en-US" sz="1500" dirty="0"/>
          </a:p>
        </p:txBody>
      </p:sp>
      <p:sp>
        <p:nvSpPr>
          <p:cNvPr id="13" name="Layer text 2"/>
          <p:cNvSpPr txBox="1"/>
          <p:nvPr/>
        </p:nvSpPr>
        <p:spPr>
          <a:xfrm>
            <a:off x="2926080" y="2578608"/>
            <a:ext cx="1792224" cy="1234440"/>
          </a:xfrm>
          <a:prstGeom prst="rect">
            <a:avLst/>
          </a:prstGeom>
          <a:noFill/>
          <a:ln/>
        </p:spPr>
        <p:txBody>
          <a:bodyPr wrap="square" lIns="0" tIns="0" rIns="0" bIns="0" rtlCol="0" anchor="t"/>
          <a:lstStyle/>
          <a:p>
            <a:pPr algn="l" indent="0" marL="0">
              <a:buNone/>
            </a:pPr>
            <a:r>
              <a:rPr lang="en-US" sz="1300" dirty="0">
                <a:solidFill>
                  <a:schemeClr val="tx1"/>
                </a:solidFill>
              </a:rPr>
              <a:t>Qt game screen: game loop, state machine, collision, camera, map loader</a:t>
            </a:r>
            <a:endParaRPr lang="en-US" sz="1300" dirty="0"/>
          </a:p>
        </p:txBody>
      </p:sp>
      <p:sp>
        <p:nvSpPr>
          <p:cNvPr id="14" name="Arrow 2"/>
          <p:cNvSpPr/>
          <p:nvPr/>
        </p:nvSpPr>
        <p:spPr>
          <a:xfrm>
            <a:off x="4846320" y="2542032"/>
            <a:ext cx="219456" cy="274320"/>
          </a:xfrm>
          <a:prstGeom prst="rightArrow">
            <a:avLst/>
          </a:prstGeom>
          <a:solidFill>
            <a:schemeClr val="tx2"/>
          </a:solidFill>
          <a:ln w="12700">
            <a:solidFill>
              <a:schemeClr val="tx2"/>
            </a:solidFill>
            <a:prstDash val="solid"/>
          </a:ln>
        </p:spPr>
      </p:sp>
      <p:sp>
        <p:nvSpPr>
          <p:cNvPr id="15" name="Layer: Core Logic"/>
          <p:cNvSpPr/>
          <p:nvPr/>
        </p:nvSpPr>
        <p:spPr>
          <a:xfrm>
            <a:off x="5084064" y="1463040"/>
            <a:ext cx="2011680" cy="2423160"/>
          </a:xfrm>
          <a:prstGeom prst="roundRect">
            <a:avLst>
              <a:gd name="adj" fmla="val 5455"/>
            </a:avLst>
          </a:prstGeom>
          <a:solidFill>
            <a:schemeClr val="bg2"/>
          </a:solidFill>
          <a:ln w="12700">
            <a:solidFill>
              <a:schemeClr val="tx2"/>
            </a:solidFill>
            <a:prstDash val="solid"/>
          </a:ln>
        </p:spPr>
      </p:sp>
      <p:sp>
        <p:nvSpPr>
          <p:cNvPr id="16" name="Core Logic icon circle"/>
          <p:cNvSpPr/>
          <p:nvPr/>
        </p:nvSpPr>
        <p:spPr>
          <a:xfrm>
            <a:off x="5797296" y="1572768"/>
            <a:ext cx="585216" cy="585216"/>
          </a:xfrm>
          <a:prstGeom prst="ellipse">
            <a:avLst/>
          </a:prstGeom>
          <a:solidFill>
            <a:schemeClr val="tx2"/>
          </a:solidFill>
          <a:ln w="12700">
            <a:solidFill>
              <a:schemeClr val="tx2"/>
            </a:solidFill>
            <a:prstDash val="solid"/>
          </a:ln>
        </p:spPr>
      </p:sp>
      <p:pic>
        <p:nvPicPr>
          <p:cNvPr id="17" name="Core Logic icon" descr="Core Logic icon">    </p:cNvPr>
          <p:cNvPicPr>
            <a:picLocks noChangeAspect="1"/>
          </p:cNvPicPr>
          <p:nvPr/>
        </p:nvPicPr>
        <p:blipFill>
          <a:blip r:embed="rId3"/>
          <a:stretch>
            <a:fillRect/>
          </a:stretch>
        </p:blipFill>
        <p:spPr>
          <a:xfrm>
            <a:off x="5937748" y="1713220"/>
            <a:ext cx="304312" cy="304312"/>
          </a:xfrm>
          <a:prstGeom prst="rect">
            <a:avLst/>
          </a:prstGeom>
        </p:spPr>
      </p:pic>
      <p:sp>
        <p:nvSpPr>
          <p:cNvPr id="18" name="Text 13"/>
          <p:cNvSpPr txBox="1"/>
          <p:nvPr/>
        </p:nvSpPr>
        <p:spPr>
          <a:xfrm>
            <a:off x="5084064" y="2240280"/>
            <a:ext cx="2011680" cy="320040"/>
          </a:xfrm>
          <a:prstGeom prst="rect">
            <a:avLst/>
          </a:prstGeom>
          <a:noFill/>
          <a:ln/>
        </p:spPr>
        <p:txBody>
          <a:bodyPr wrap="square" lIns="0" tIns="0" rIns="0" bIns="0" rtlCol="0" anchor="ctr"/>
          <a:lstStyle/>
          <a:p>
            <a:pPr algn="ctr" indent="0" marL="0">
              <a:buNone/>
            </a:pPr>
            <a:r>
              <a:rPr lang="en-US" sz="1500" b="1" dirty="0">
                <a:solidFill>
                  <a:schemeClr val="tx2"/>
                </a:solidFill>
              </a:rPr>
              <a:t>Core Logic</a:t>
            </a:r>
            <a:endParaRPr lang="en-US" sz="1500" dirty="0"/>
          </a:p>
        </p:txBody>
      </p:sp>
      <p:sp>
        <p:nvSpPr>
          <p:cNvPr id="19" name="Layer text 3"/>
          <p:cNvSpPr txBox="1"/>
          <p:nvPr/>
        </p:nvSpPr>
        <p:spPr>
          <a:xfrm>
            <a:off x="5193792" y="2578608"/>
            <a:ext cx="1792224" cy="1234440"/>
          </a:xfrm>
          <a:prstGeom prst="rect">
            <a:avLst/>
          </a:prstGeom>
          <a:noFill/>
          <a:ln/>
        </p:spPr>
        <p:txBody>
          <a:bodyPr wrap="square" lIns="0" tIns="0" rIns="0" bIns="0" rtlCol="0" anchor="t"/>
          <a:lstStyle/>
          <a:p>
            <a:pPr algn="l" indent="0" marL="0">
              <a:buNone/>
            </a:pPr>
            <a:r>
              <a:rPr lang="en-US" sz="1300" dirty="0">
                <a:solidFill>
                  <a:schemeClr val="tx1"/>
                </a:solidFill>
              </a:rPr>
              <a:t>C++ engine: Case, Game, Validator, cross-examination, forensics</a:t>
            </a:r>
            <a:endParaRPr lang="en-US" sz="1300" dirty="0"/>
          </a:p>
        </p:txBody>
      </p:sp>
      <p:sp>
        <p:nvSpPr>
          <p:cNvPr id="20" name="Arrow 3"/>
          <p:cNvSpPr/>
          <p:nvPr/>
        </p:nvSpPr>
        <p:spPr>
          <a:xfrm>
            <a:off x="7114032" y="2542032"/>
            <a:ext cx="219456" cy="274320"/>
          </a:xfrm>
          <a:prstGeom prst="rightArrow">
            <a:avLst/>
          </a:prstGeom>
          <a:solidFill>
            <a:schemeClr val="tx2"/>
          </a:solidFill>
          <a:ln w="12700">
            <a:solidFill>
              <a:schemeClr val="tx2"/>
            </a:solidFill>
            <a:prstDash val="solid"/>
          </a:ln>
        </p:spPr>
      </p:sp>
      <p:sp>
        <p:nvSpPr>
          <p:cNvPr id="21" name="Layer: Database Layer"/>
          <p:cNvSpPr/>
          <p:nvPr/>
        </p:nvSpPr>
        <p:spPr>
          <a:xfrm>
            <a:off x="7351776" y="1463040"/>
            <a:ext cx="2011680" cy="2423160"/>
          </a:xfrm>
          <a:prstGeom prst="roundRect">
            <a:avLst>
              <a:gd name="adj" fmla="val 5455"/>
            </a:avLst>
          </a:prstGeom>
          <a:solidFill>
            <a:schemeClr val="bg1"/>
          </a:solidFill>
          <a:ln w="19050">
            <a:solidFill>
              <a:schemeClr val="tx2"/>
            </a:solidFill>
            <a:prstDash val="dash"/>
          </a:ln>
        </p:spPr>
      </p:sp>
      <p:sp>
        <p:nvSpPr>
          <p:cNvPr id="22" name="Database Layer icon circle"/>
          <p:cNvSpPr/>
          <p:nvPr/>
        </p:nvSpPr>
        <p:spPr>
          <a:xfrm>
            <a:off x="8065008" y="1572768"/>
            <a:ext cx="585216" cy="585216"/>
          </a:xfrm>
          <a:prstGeom prst="ellipse">
            <a:avLst/>
          </a:prstGeom>
          <a:solidFill>
            <a:schemeClr val="tx2"/>
          </a:solidFill>
          <a:ln w="12700">
            <a:solidFill>
              <a:schemeClr val="tx2"/>
            </a:solidFill>
            <a:prstDash val="solid"/>
          </a:ln>
        </p:spPr>
      </p:sp>
      <p:pic>
        <p:nvPicPr>
          <p:cNvPr id="23" name="Database Layer icon" descr="Database Layer icon">    </p:cNvPr>
          <p:cNvPicPr>
            <a:picLocks noChangeAspect="1"/>
          </p:cNvPicPr>
          <p:nvPr/>
        </p:nvPicPr>
        <p:blipFill>
          <a:blip r:embed="rId4"/>
          <a:stretch>
            <a:fillRect/>
          </a:stretch>
        </p:blipFill>
        <p:spPr>
          <a:xfrm>
            <a:off x="8205460" y="1713220"/>
            <a:ext cx="304312" cy="304312"/>
          </a:xfrm>
          <a:prstGeom prst="rect">
            <a:avLst/>
          </a:prstGeom>
        </p:spPr>
      </p:pic>
      <p:sp>
        <p:nvSpPr>
          <p:cNvPr id="24" name="Text 18"/>
          <p:cNvSpPr txBox="1"/>
          <p:nvPr/>
        </p:nvSpPr>
        <p:spPr>
          <a:xfrm>
            <a:off x="7351776" y="2240280"/>
            <a:ext cx="2011680" cy="320040"/>
          </a:xfrm>
          <a:prstGeom prst="rect">
            <a:avLst/>
          </a:prstGeom>
          <a:noFill/>
          <a:ln/>
        </p:spPr>
        <p:txBody>
          <a:bodyPr wrap="square" lIns="0" tIns="0" rIns="0" bIns="0" rtlCol="0" anchor="ctr"/>
          <a:lstStyle/>
          <a:p>
            <a:pPr algn="ctr" indent="0" marL="0">
              <a:buNone/>
            </a:pPr>
            <a:r>
              <a:rPr lang="en-US" sz="1500" b="1" dirty="0">
                <a:solidFill>
                  <a:schemeClr val="tx2"/>
                </a:solidFill>
              </a:rPr>
              <a:t>Database Layer</a:t>
            </a:r>
            <a:endParaRPr lang="en-US" sz="1500" dirty="0"/>
          </a:p>
        </p:txBody>
      </p:sp>
      <p:sp>
        <p:nvSpPr>
          <p:cNvPr id="25" name="Layer text 4"/>
          <p:cNvSpPr txBox="1"/>
          <p:nvPr/>
        </p:nvSpPr>
        <p:spPr>
          <a:xfrm>
            <a:off x="7461504" y="2578608"/>
            <a:ext cx="1792224" cy="1234440"/>
          </a:xfrm>
          <a:prstGeom prst="rect">
            <a:avLst/>
          </a:prstGeom>
          <a:noFill/>
          <a:ln/>
        </p:spPr>
        <p:txBody>
          <a:bodyPr wrap="square" lIns="0" tIns="0" rIns="0" bIns="0" rtlCol="0" anchor="t"/>
          <a:lstStyle/>
          <a:p>
            <a:pPr algn="l" indent="0" marL="0">
              <a:buNone/>
            </a:pPr>
            <a:r>
              <a:rPr lang="en-US" sz="1300" dirty="0">
                <a:solidFill>
                  <a:schemeClr val="tx1"/>
                </a:solidFill>
              </a:rPr>
              <a:t>SQLite planned for Phase-III. Now: case data in C++, maps in Tiled JSON</a:t>
            </a:r>
            <a:endParaRPr lang="en-US" sz="1300" dirty="0"/>
          </a:p>
        </p:txBody>
      </p:sp>
      <p:sp>
        <p:nvSpPr>
          <p:cNvPr id="26" name="Arrow 4"/>
          <p:cNvSpPr/>
          <p:nvPr/>
        </p:nvSpPr>
        <p:spPr>
          <a:xfrm>
            <a:off x="9381744" y="2542032"/>
            <a:ext cx="219456" cy="274320"/>
          </a:xfrm>
          <a:prstGeom prst="rightArrow">
            <a:avLst/>
          </a:prstGeom>
          <a:solidFill>
            <a:schemeClr val="tx2"/>
          </a:solidFill>
          <a:ln w="12700">
            <a:solidFill>
              <a:schemeClr val="tx2"/>
            </a:solidFill>
            <a:prstDash val="solid"/>
          </a:ln>
        </p:spPr>
      </p:sp>
      <p:sp>
        <p:nvSpPr>
          <p:cNvPr id="27" name="Layer: Output Layer"/>
          <p:cNvSpPr/>
          <p:nvPr/>
        </p:nvSpPr>
        <p:spPr>
          <a:xfrm>
            <a:off x="9619488" y="1463040"/>
            <a:ext cx="2011680" cy="2423160"/>
          </a:xfrm>
          <a:prstGeom prst="roundRect">
            <a:avLst>
              <a:gd name="adj" fmla="val 5455"/>
            </a:avLst>
          </a:prstGeom>
          <a:solidFill>
            <a:schemeClr val="bg2"/>
          </a:solidFill>
          <a:ln w="12700">
            <a:solidFill>
              <a:schemeClr val="tx2"/>
            </a:solidFill>
            <a:prstDash val="solid"/>
          </a:ln>
        </p:spPr>
      </p:sp>
      <p:sp>
        <p:nvSpPr>
          <p:cNvPr id="28" name="Output Layer icon circle"/>
          <p:cNvSpPr/>
          <p:nvPr/>
        </p:nvSpPr>
        <p:spPr>
          <a:xfrm>
            <a:off x="10332720" y="1572768"/>
            <a:ext cx="585216" cy="585216"/>
          </a:xfrm>
          <a:prstGeom prst="ellipse">
            <a:avLst/>
          </a:prstGeom>
          <a:solidFill>
            <a:schemeClr val="tx2"/>
          </a:solidFill>
          <a:ln w="12700">
            <a:solidFill>
              <a:schemeClr val="tx2"/>
            </a:solidFill>
            <a:prstDash val="solid"/>
          </a:ln>
        </p:spPr>
      </p:sp>
      <p:pic>
        <p:nvPicPr>
          <p:cNvPr id="29" name="Output Layer icon" descr="Output Layer icon">    </p:cNvPr>
          <p:cNvPicPr>
            <a:picLocks noChangeAspect="1"/>
          </p:cNvPicPr>
          <p:nvPr/>
        </p:nvPicPr>
        <p:blipFill>
          <a:blip r:embed="rId5"/>
          <a:stretch>
            <a:fillRect/>
          </a:stretch>
        </p:blipFill>
        <p:spPr>
          <a:xfrm>
            <a:off x="10473172" y="1713220"/>
            <a:ext cx="304312" cy="304312"/>
          </a:xfrm>
          <a:prstGeom prst="rect">
            <a:avLst/>
          </a:prstGeom>
        </p:spPr>
      </p:pic>
      <p:sp>
        <p:nvSpPr>
          <p:cNvPr id="30" name="Text 23"/>
          <p:cNvSpPr txBox="1"/>
          <p:nvPr/>
        </p:nvSpPr>
        <p:spPr>
          <a:xfrm>
            <a:off x="9619488" y="2240280"/>
            <a:ext cx="2011680" cy="320040"/>
          </a:xfrm>
          <a:prstGeom prst="rect">
            <a:avLst/>
          </a:prstGeom>
          <a:noFill/>
          <a:ln/>
        </p:spPr>
        <p:txBody>
          <a:bodyPr wrap="square" lIns="0" tIns="0" rIns="0" bIns="0" rtlCol="0" anchor="ctr"/>
          <a:lstStyle/>
          <a:p>
            <a:pPr algn="ctr" indent="0" marL="0">
              <a:buNone/>
            </a:pPr>
            <a:r>
              <a:rPr lang="en-US" sz="1500" b="1" dirty="0">
                <a:solidFill>
                  <a:schemeClr val="tx2"/>
                </a:solidFill>
              </a:rPr>
              <a:t>Output Layer</a:t>
            </a:r>
            <a:endParaRPr lang="en-US" sz="1500" dirty="0"/>
          </a:p>
        </p:txBody>
      </p:sp>
      <p:sp>
        <p:nvSpPr>
          <p:cNvPr id="31" name="Layer text 5"/>
          <p:cNvSpPr txBox="1"/>
          <p:nvPr/>
        </p:nvSpPr>
        <p:spPr>
          <a:xfrm>
            <a:off x="9729216" y="2578608"/>
            <a:ext cx="1792224" cy="1234440"/>
          </a:xfrm>
          <a:prstGeom prst="rect">
            <a:avLst/>
          </a:prstGeom>
          <a:noFill/>
          <a:ln/>
        </p:spPr>
        <p:txBody>
          <a:bodyPr wrap="square" lIns="0" tIns="0" rIns="0" bIns="0" rtlCol="0" anchor="t"/>
          <a:lstStyle/>
          <a:p>
            <a:pPr algn="l" indent="0" marL="0">
              <a:buNone/>
            </a:pPr>
            <a:r>
              <a:rPr lang="en-US" sz="1300" dirty="0">
                <a:solidFill>
                  <a:schemeClr val="tx1"/>
                </a:solidFill>
              </a:rPr>
              <a:t>2D tile world, animated characters, dossier, lab and ending screens</a:t>
            </a:r>
            <a:endParaRPr lang="en-US" sz="1300" dirty="0"/>
          </a:p>
        </p:txBody>
      </p:sp>
      <p:sp>
        <p:nvSpPr>
          <p:cNvPr id="32" name="Heading: Major Components"/>
          <p:cNvSpPr txBox="1"/>
          <p:nvPr/>
        </p:nvSpPr>
        <p:spPr>
          <a:xfrm>
            <a:off x="548640" y="4206240"/>
            <a:ext cx="5303520" cy="411480"/>
          </a:xfrm>
          <a:prstGeom prst="rect">
            <a:avLst/>
          </a:prstGeom>
          <a:noFill/>
          <a:ln/>
        </p:spPr>
        <p:txBody>
          <a:bodyPr wrap="square" lIns="0" tIns="0" rIns="0" bIns="0" rtlCol="0" anchor="ctr"/>
          <a:lstStyle/>
          <a:p>
            <a:pPr indent="0" marL="0">
              <a:buNone/>
            </a:pPr>
            <a:r>
              <a:rPr lang="en-US" sz="2000" b="1" dirty="0">
                <a:solidFill>
                  <a:schemeClr val="tx2"/>
                </a:solidFill>
              </a:rPr>
              <a:t>Major Components</a:t>
            </a:r>
            <a:endParaRPr lang="en-US" sz="2000" dirty="0"/>
          </a:p>
        </p:txBody>
      </p:sp>
      <p:sp>
        <p:nvSpPr>
          <p:cNvPr id="33" name="Components list"/>
          <p:cNvSpPr txBox="1"/>
          <p:nvPr/>
        </p:nvSpPr>
        <p:spPr>
          <a:xfrm>
            <a:off x="548640" y="4663440"/>
            <a:ext cx="5394960" cy="1645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430"/>
                </a:solidFill>
              </a:rPr>
              <a:t>Engine (Case, Game, Validator): holds every rule and data structure</a:t>
            </a:r>
            <a:endParaRPr lang="en-US" sz="1500" dirty="0"/>
          </a:p>
          <a:p>
            <a:pPr marL="342900" indent="-342900">
              <a:spcAft>
                <a:spcPts val="800"/>
              </a:spcAft>
              <a:buSzPct val="100000"/>
              <a:buChar char="▶"/>
            </a:pPr>
            <a:r>
              <a:rPr lang="en-US" sz="1500" dirty="0">
                <a:solidFill>
                  <a:srgbClr val="1B2430"/>
                </a:solidFill>
              </a:rPr>
              <a:t>Qt screen: draws the world, menus and talks to the engine</a:t>
            </a:r>
            <a:endParaRPr lang="en-US" sz="1500" dirty="0"/>
          </a:p>
          <a:p>
            <a:pPr marL="342900" indent="-342900">
              <a:spcAft>
                <a:spcPts val="800"/>
              </a:spcAft>
              <a:buSzPct val="100000"/>
              <a:buChar char="▶"/>
            </a:pPr>
            <a:r>
              <a:rPr lang="en-US" sz="1500" dirty="0">
                <a:solidFill>
                  <a:srgbClr val="1B2430"/>
                </a:solidFill>
              </a:rPr>
              <a:t>Tiled maps and an asset pipeline: rooms, tiles, sprites</a:t>
            </a:r>
            <a:endParaRPr lang="en-US" sz="1500" dirty="0"/>
          </a:p>
        </p:txBody>
      </p:sp>
      <p:sp>
        <p:nvSpPr>
          <p:cNvPr id="34" name="Heading: Changes Since Phase-I"/>
          <p:cNvSpPr txBox="1"/>
          <p:nvPr/>
        </p:nvSpPr>
        <p:spPr>
          <a:xfrm>
            <a:off x="6309360" y="4206240"/>
            <a:ext cx="5303520" cy="411480"/>
          </a:xfrm>
          <a:prstGeom prst="rect">
            <a:avLst/>
          </a:prstGeom>
          <a:noFill/>
          <a:ln/>
        </p:spPr>
        <p:txBody>
          <a:bodyPr wrap="square" lIns="0" tIns="0" rIns="0" bIns="0" rtlCol="0" anchor="ctr"/>
          <a:lstStyle/>
          <a:p>
            <a:pPr indent="0" marL="0">
              <a:buNone/>
            </a:pPr>
            <a:r>
              <a:rPr lang="en-US" sz="2000" b="1" dirty="0">
                <a:solidFill>
                  <a:schemeClr val="tx2"/>
                </a:solidFill>
              </a:rPr>
              <a:t>Changes Since Phase-I</a:t>
            </a:r>
            <a:endParaRPr lang="en-US" sz="2000" dirty="0"/>
          </a:p>
        </p:txBody>
      </p:sp>
      <p:sp>
        <p:nvSpPr>
          <p:cNvPr id="35" name="Changes list"/>
          <p:cNvSpPr txBox="1"/>
          <p:nvPr/>
        </p:nvSpPr>
        <p:spPr>
          <a:xfrm>
            <a:off x="6309360" y="4663440"/>
            <a:ext cx="5330952" cy="1645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430"/>
                </a:solidFill>
              </a:rPr>
              <a:t>Architecture: engine separated from the screen so it can be unit-tested</a:t>
            </a:r>
            <a:endParaRPr lang="en-US" sz="1500" dirty="0"/>
          </a:p>
          <a:p>
            <a:pPr marL="342900" indent="-342900">
              <a:spcAft>
                <a:spcPts val="800"/>
              </a:spcAft>
              <a:buSzPct val="100000"/>
              <a:buChar char="▶"/>
            </a:pPr>
            <a:r>
              <a:rPr lang="en-US" sz="1500" dirty="0">
                <a:solidFill>
                  <a:srgbClr val="1B2430"/>
                </a:solidFill>
              </a:rPr>
              <a:t>New components: validator, cross-examination, forensic lab</a:t>
            </a:r>
            <a:endParaRPr lang="en-US" sz="1500" dirty="0"/>
          </a:p>
          <a:p>
            <a:pPr marL="342900" indent="-342900">
              <a:spcAft>
                <a:spcPts val="800"/>
              </a:spcAft>
              <a:buSzPct val="100000"/>
              <a:buChar char="▶"/>
            </a:pPr>
            <a:r>
              <a:rPr lang="en-US" sz="1500" dirty="0">
                <a:solidFill>
                  <a:srgbClr val="1B2430"/>
                </a:solidFill>
              </a:rPr>
              <a:t>Workflow: case data → validator → game; maps checked against the case</a:t>
            </a:r>
            <a:endParaRPr lang="en-US" sz="15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Module Design &amp; Functional Requirements</a:t>
            </a:r>
            <a:endParaRPr lang="en-US" sz="3200" dirty="0"/>
          </a:p>
        </p:txBody>
      </p:sp>
      <p:sp>
        <p:nvSpPr>
          <p:cNvPr id="3" name="Heading: Major Modules"/>
          <p:cNvSpPr txBox="1"/>
          <p:nvPr/>
        </p:nvSpPr>
        <p:spPr>
          <a:xfrm>
            <a:off x="548640" y="1417320"/>
            <a:ext cx="5486400" cy="411480"/>
          </a:xfrm>
          <a:prstGeom prst="rect">
            <a:avLst/>
          </a:prstGeom>
          <a:noFill/>
          <a:ln/>
        </p:spPr>
        <p:txBody>
          <a:bodyPr wrap="square" lIns="0" tIns="0" rIns="0" bIns="0" rtlCol="0" anchor="ctr"/>
          <a:lstStyle/>
          <a:p>
            <a:pPr indent="0" marL="0">
              <a:buNone/>
            </a:pPr>
            <a:r>
              <a:rPr lang="en-US" sz="2200" b="1" dirty="0">
                <a:solidFill>
                  <a:schemeClr val="tx2"/>
                </a:solidFill>
              </a:rPr>
              <a:t>Major Modules</a:t>
            </a:r>
            <a:endParaRPr lang="en-US" sz="2200" dirty="0"/>
          </a:p>
        </p:txBody>
      </p:sp>
      <p:sp>
        <p:nvSpPr>
          <p:cNvPr id="4" name="Module icon 1 circle"/>
          <p:cNvSpPr/>
          <p:nvPr/>
        </p:nvSpPr>
        <p:spPr>
          <a:xfrm>
            <a:off x="548640" y="1920240"/>
            <a:ext cx="475488" cy="475488"/>
          </a:xfrm>
          <a:prstGeom prst="ellipse">
            <a:avLst/>
          </a:prstGeom>
          <a:solidFill>
            <a:schemeClr val="tx2"/>
          </a:solidFill>
          <a:ln w="12700">
            <a:solidFill>
              <a:schemeClr val="tx2"/>
            </a:solidFill>
            <a:prstDash val="solid"/>
          </a:ln>
        </p:spPr>
      </p:sp>
      <p:pic>
        <p:nvPicPr>
          <p:cNvPr id="5" name="Module icon 1" descr="Module icon 1">    </p:cNvPr>
          <p:cNvPicPr>
            <a:picLocks noChangeAspect="1"/>
          </p:cNvPicPr>
          <p:nvPr/>
        </p:nvPicPr>
        <p:blipFill>
          <a:blip r:embed="rId1"/>
          <a:stretch>
            <a:fillRect/>
          </a:stretch>
        </p:blipFill>
        <p:spPr>
          <a:xfrm>
            <a:off x="662757" y="2034357"/>
            <a:ext cx="247254" cy="247254"/>
          </a:xfrm>
          <a:prstGeom prst="rect">
            <a:avLst/>
          </a:prstGeom>
        </p:spPr>
      </p:pic>
      <p:sp>
        <p:nvSpPr>
          <p:cNvPr id="6" name="Module 1"/>
          <p:cNvSpPr txBox="1"/>
          <p:nvPr/>
        </p:nvSpPr>
        <p:spPr>
          <a:xfrm>
            <a:off x="1188720" y="1920240"/>
            <a:ext cx="4754880" cy="475488"/>
          </a:xfrm>
          <a:prstGeom prst="rect">
            <a:avLst/>
          </a:prstGeom>
          <a:noFill/>
          <a:ln/>
        </p:spPr>
        <p:txBody>
          <a:bodyPr wrap="square" lIns="0" tIns="0" rIns="0" bIns="0" rtlCol="0" anchor="ctr"/>
          <a:lstStyle/>
          <a:p>
            <a:pPr indent="0" marL="0">
              <a:buNone/>
            </a:pPr>
            <a:r>
              <a:rPr lang="en-US" sz="1500" dirty="0">
                <a:solidFill>
                  <a:schemeClr val="tx1"/>
                </a:solidFill>
              </a:rPr>
              <a:t>Engine: Entities, Case, Game (rules, undo, credibility)</a:t>
            </a:r>
            <a:endParaRPr lang="en-US" sz="1500" dirty="0"/>
          </a:p>
        </p:txBody>
      </p:sp>
      <p:sp>
        <p:nvSpPr>
          <p:cNvPr id="7" name="Module icon 2 circle"/>
          <p:cNvSpPr/>
          <p:nvPr/>
        </p:nvSpPr>
        <p:spPr>
          <a:xfrm>
            <a:off x="548640" y="2523744"/>
            <a:ext cx="475488" cy="475488"/>
          </a:xfrm>
          <a:prstGeom prst="ellipse">
            <a:avLst/>
          </a:prstGeom>
          <a:solidFill>
            <a:schemeClr val="tx2"/>
          </a:solidFill>
          <a:ln w="12700">
            <a:solidFill>
              <a:schemeClr val="tx2"/>
            </a:solidFill>
            <a:prstDash val="solid"/>
          </a:ln>
        </p:spPr>
      </p:sp>
      <p:pic>
        <p:nvPicPr>
          <p:cNvPr id="8" name="Module icon 2" descr="Module icon 2">    </p:cNvPr>
          <p:cNvPicPr>
            <a:picLocks noChangeAspect="1"/>
          </p:cNvPicPr>
          <p:nvPr/>
        </p:nvPicPr>
        <p:blipFill>
          <a:blip r:embed="rId2"/>
          <a:stretch>
            <a:fillRect/>
          </a:stretch>
        </p:blipFill>
        <p:spPr>
          <a:xfrm>
            <a:off x="662757" y="2637861"/>
            <a:ext cx="247254" cy="247254"/>
          </a:xfrm>
          <a:prstGeom prst="rect">
            <a:avLst/>
          </a:prstGeom>
        </p:spPr>
      </p:pic>
      <p:sp>
        <p:nvSpPr>
          <p:cNvPr id="9" name="Module 2"/>
          <p:cNvSpPr txBox="1"/>
          <p:nvPr/>
        </p:nvSpPr>
        <p:spPr>
          <a:xfrm>
            <a:off x="1188720" y="2523744"/>
            <a:ext cx="4754880" cy="475488"/>
          </a:xfrm>
          <a:prstGeom prst="rect">
            <a:avLst/>
          </a:prstGeom>
          <a:noFill/>
          <a:ln/>
        </p:spPr>
        <p:txBody>
          <a:bodyPr wrap="square" lIns="0" tIns="0" rIns="0" bIns="0" rtlCol="0" anchor="ctr"/>
          <a:lstStyle/>
          <a:p>
            <a:pPr indent="0" marL="0">
              <a:buNone/>
            </a:pPr>
            <a:r>
              <a:rPr lang="en-US" sz="1500" dirty="0">
                <a:solidFill>
                  <a:schemeClr val="tx1"/>
                </a:solidFill>
              </a:rPr>
              <a:t>Validator and Forensics: solvability proof, science maths</a:t>
            </a:r>
            <a:endParaRPr lang="en-US" sz="1500" dirty="0"/>
          </a:p>
        </p:txBody>
      </p:sp>
      <p:sp>
        <p:nvSpPr>
          <p:cNvPr id="10" name="Module icon 3 circle"/>
          <p:cNvSpPr/>
          <p:nvPr/>
        </p:nvSpPr>
        <p:spPr>
          <a:xfrm>
            <a:off x="548640" y="3127248"/>
            <a:ext cx="475488" cy="475488"/>
          </a:xfrm>
          <a:prstGeom prst="ellipse">
            <a:avLst/>
          </a:prstGeom>
          <a:solidFill>
            <a:schemeClr val="tx2"/>
          </a:solidFill>
          <a:ln w="12700">
            <a:solidFill>
              <a:schemeClr val="tx2"/>
            </a:solidFill>
            <a:prstDash val="solid"/>
          </a:ln>
        </p:spPr>
      </p:sp>
      <p:pic>
        <p:nvPicPr>
          <p:cNvPr id="11" name="Module icon 3" descr="Module icon 3">    </p:cNvPr>
          <p:cNvPicPr>
            <a:picLocks noChangeAspect="1"/>
          </p:cNvPicPr>
          <p:nvPr/>
        </p:nvPicPr>
        <p:blipFill>
          <a:blip r:embed="rId3"/>
          <a:stretch>
            <a:fillRect/>
          </a:stretch>
        </p:blipFill>
        <p:spPr>
          <a:xfrm>
            <a:off x="662757" y="3241365"/>
            <a:ext cx="247254" cy="247254"/>
          </a:xfrm>
          <a:prstGeom prst="rect">
            <a:avLst/>
          </a:prstGeom>
        </p:spPr>
      </p:pic>
      <p:sp>
        <p:nvSpPr>
          <p:cNvPr id="12" name="Module 3"/>
          <p:cNvSpPr txBox="1"/>
          <p:nvPr/>
        </p:nvSpPr>
        <p:spPr>
          <a:xfrm>
            <a:off x="1188720" y="3127248"/>
            <a:ext cx="4754880" cy="475488"/>
          </a:xfrm>
          <a:prstGeom prst="rect">
            <a:avLst/>
          </a:prstGeom>
          <a:noFill/>
          <a:ln/>
        </p:spPr>
        <p:txBody>
          <a:bodyPr wrap="square" lIns="0" tIns="0" rIns="0" bIns="0" rtlCol="0" anchor="ctr"/>
          <a:lstStyle/>
          <a:p>
            <a:pPr indent="0" marL="0">
              <a:buNone/>
            </a:pPr>
            <a:r>
              <a:rPr lang="en-US" sz="1500" dirty="0">
                <a:solidFill>
                  <a:schemeClr val="tx1"/>
                </a:solidFill>
              </a:rPr>
              <a:t>Map loader: Tiled JSON, collision, map checker</a:t>
            </a:r>
            <a:endParaRPr lang="en-US" sz="1500" dirty="0"/>
          </a:p>
        </p:txBody>
      </p:sp>
      <p:sp>
        <p:nvSpPr>
          <p:cNvPr id="13" name="Module icon 4 circle"/>
          <p:cNvSpPr/>
          <p:nvPr/>
        </p:nvSpPr>
        <p:spPr>
          <a:xfrm>
            <a:off x="548640" y="3730752"/>
            <a:ext cx="475488" cy="475488"/>
          </a:xfrm>
          <a:prstGeom prst="ellipse">
            <a:avLst/>
          </a:prstGeom>
          <a:solidFill>
            <a:schemeClr val="tx2"/>
          </a:solidFill>
          <a:ln w="12700">
            <a:solidFill>
              <a:schemeClr val="tx2"/>
            </a:solidFill>
            <a:prstDash val="solid"/>
          </a:ln>
        </p:spPr>
      </p:sp>
      <p:pic>
        <p:nvPicPr>
          <p:cNvPr id="14" name="Module icon 4" descr="Module icon 4">    </p:cNvPr>
          <p:cNvPicPr>
            <a:picLocks noChangeAspect="1"/>
          </p:cNvPicPr>
          <p:nvPr/>
        </p:nvPicPr>
        <p:blipFill>
          <a:blip r:embed="rId4"/>
          <a:stretch>
            <a:fillRect/>
          </a:stretch>
        </p:blipFill>
        <p:spPr>
          <a:xfrm>
            <a:off x="662757" y="3844869"/>
            <a:ext cx="247254" cy="247254"/>
          </a:xfrm>
          <a:prstGeom prst="rect">
            <a:avLst/>
          </a:prstGeom>
        </p:spPr>
      </p:pic>
      <p:sp>
        <p:nvSpPr>
          <p:cNvPr id="15" name="Module 4"/>
          <p:cNvSpPr txBox="1"/>
          <p:nvPr/>
        </p:nvSpPr>
        <p:spPr>
          <a:xfrm>
            <a:off x="1188720" y="3730752"/>
            <a:ext cx="4754880" cy="475488"/>
          </a:xfrm>
          <a:prstGeom prst="rect">
            <a:avLst/>
          </a:prstGeom>
          <a:noFill/>
          <a:ln/>
        </p:spPr>
        <p:txBody>
          <a:bodyPr wrap="square" lIns="0" tIns="0" rIns="0" bIns="0" rtlCol="0" anchor="ctr"/>
          <a:lstStyle/>
          <a:p>
            <a:pPr indent="0" marL="0">
              <a:buNone/>
            </a:pPr>
            <a:r>
              <a:rPr lang="en-US" sz="1500" dirty="0">
                <a:solidFill>
                  <a:schemeClr val="tx1"/>
                </a:solidFill>
              </a:rPr>
              <a:t>Qt game screen: movement, camera, menus, dossier</a:t>
            </a:r>
            <a:endParaRPr lang="en-US" sz="1500" dirty="0"/>
          </a:p>
        </p:txBody>
      </p:sp>
      <p:sp>
        <p:nvSpPr>
          <p:cNvPr id="16" name="Module icon 5 circle"/>
          <p:cNvSpPr/>
          <p:nvPr/>
        </p:nvSpPr>
        <p:spPr>
          <a:xfrm>
            <a:off x="548640" y="4334256"/>
            <a:ext cx="475488" cy="475488"/>
          </a:xfrm>
          <a:prstGeom prst="ellipse">
            <a:avLst/>
          </a:prstGeom>
          <a:solidFill>
            <a:schemeClr val="tx2"/>
          </a:solidFill>
          <a:ln w="12700">
            <a:solidFill>
              <a:schemeClr val="tx2"/>
            </a:solidFill>
            <a:prstDash val="solid"/>
          </a:ln>
        </p:spPr>
      </p:sp>
      <p:pic>
        <p:nvPicPr>
          <p:cNvPr id="17" name="Module icon 5" descr="Module icon 5">    </p:cNvPr>
          <p:cNvPicPr>
            <a:picLocks noChangeAspect="1"/>
          </p:cNvPicPr>
          <p:nvPr/>
        </p:nvPicPr>
        <p:blipFill>
          <a:blip r:embed="rId5"/>
          <a:stretch>
            <a:fillRect/>
          </a:stretch>
        </p:blipFill>
        <p:spPr>
          <a:xfrm>
            <a:off x="662757" y="4448373"/>
            <a:ext cx="247254" cy="247254"/>
          </a:xfrm>
          <a:prstGeom prst="rect">
            <a:avLst/>
          </a:prstGeom>
        </p:spPr>
      </p:pic>
      <p:sp>
        <p:nvSpPr>
          <p:cNvPr id="18" name="Module 5"/>
          <p:cNvSpPr txBox="1"/>
          <p:nvPr/>
        </p:nvSpPr>
        <p:spPr>
          <a:xfrm>
            <a:off x="1188720" y="4334256"/>
            <a:ext cx="4754880" cy="475488"/>
          </a:xfrm>
          <a:prstGeom prst="rect">
            <a:avLst/>
          </a:prstGeom>
          <a:noFill/>
          <a:ln/>
        </p:spPr>
        <p:txBody>
          <a:bodyPr wrap="square" lIns="0" tIns="0" rIns="0" bIns="0" rtlCol="0" anchor="ctr"/>
          <a:lstStyle/>
          <a:p>
            <a:pPr indent="0" marL="0">
              <a:buNone/>
            </a:pPr>
            <a:r>
              <a:rPr lang="en-US" sz="1500" dirty="0">
                <a:solidFill>
                  <a:schemeClr val="tx1"/>
                </a:solidFill>
              </a:rPr>
              <a:t>Database (planned): SQLite login, progress, cases</a:t>
            </a:r>
            <a:endParaRPr lang="en-US" sz="1500" dirty="0"/>
          </a:p>
        </p:txBody>
      </p:sp>
      <p:sp>
        <p:nvSpPr>
          <p:cNvPr id="19" name="Heading: Functional Requirements"/>
          <p:cNvSpPr txBox="1"/>
          <p:nvPr/>
        </p:nvSpPr>
        <p:spPr>
          <a:xfrm>
            <a:off x="6309360" y="1417320"/>
            <a:ext cx="5486400" cy="411480"/>
          </a:xfrm>
          <a:prstGeom prst="rect">
            <a:avLst/>
          </a:prstGeom>
          <a:noFill/>
          <a:ln/>
        </p:spPr>
        <p:txBody>
          <a:bodyPr wrap="square" lIns="0" tIns="0" rIns="0" bIns="0" rtlCol="0" anchor="ctr"/>
          <a:lstStyle/>
          <a:p>
            <a:pPr indent="0" marL="0">
              <a:buNone/>
            </a:pPr>
            <a:r>
              <a:rPr lang="en-US" sz="2200" b="1" dirty="0">
                <a:solidFill>
                  <a:schemeClr val="tx2"/>
                </a:solidFill>
              </a:rPr>
              <a:t>Functional Requirements</a:t>
            </a:r>
            <a:endParaRPr lang="en-US" sz="2200" dirty="0"/>
          </a:p>
        </p:txBody>
      </p:sp>
      <p:sp>
        <p:nvSpPr>
          <p:cNvPr id="20" name="Functional requirements list"/>
          <p:cNvSpPr txBox="1"/>
          <p:nvPr/>
        </p:nvSpPr>
        <p:spPr>
          <a:xfrm>
            <a:off x="6309360" y="1920240"/>
            <a:ext cx="5330952" cy="31089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B2430"/>
                </a:solidFill>
              </a:rPr>
              <a:t>Explore 7 rooms; locked doors open only with the right clue</a:t>
            </a:r>
            <a:endParaRPr lang="en-US" sz="1500" dirty="0"/>
          </a:p>
          <a:p>
            <a:pPr marL="342900" indent="-342900">
              <a:spcAft>
                <a:spcPts val="700"/>
              </a:spcAft>
              <a:buSzPct val="100000"/>
              <a:buChar char="▶"/>
            </a:pPr>
            <a:r>
              <a:rPr lang="en-US" sz="1500" dirty="0">
                <a:solidFill>
                  <a:srgbClr val="1B2430"/>
                </a:solidFill>
              </a:rPr>
              <a:t>Collect evidence; some clues need earlier clues first</a:t>
            </a:r>
            <a:endParaRPr lang="en-US" sz="1500" dirty="0"/>
          </a:p>
          <a:p>
            <a:pPr marL="342900" indent="-342900">
              <a:spcAft>
                <a:spcPts val="700"/>
              </a:spcAft>
              <a:buSzPct val="100000"/>
              <a:buChar char="▶"/>
            </a:pPr>
            <a:r>
              <a:rPr lang="en-US" sz="1500" dirty="0">
                <a:solidFill>
                  <a:srgbClr val="1B2430"/>
                </a:solidFill>
              </a:rPr>
              <a:t>Cross-examine people and present evidence to catch lies</a:t>
            </a:r>
            <a:endParaRPr lang="en-US" sz="1500" dirty="0"/>
          </a:p>
          <a:p>
            <a:pPr marL="342900" indent="-342900">
              <a:spcAft>
                <a:spcPts val="700"/>
              </a:spcAft>
              <a:buSzPct val="100000"/>
              <a:buChar char="▶"/>
            </a:pPr>
            <a:r>
              <a:rPr lang="en-US" sz="1500" dirty="0">
                <a:solidFill>
                  <a:srgbClr val="1B2430"/>
                </a:solidFill>
              </a:rPr>
              <a:t>Run forensic tests: body cooling, ink chromatography, Samvat dial</a:t>
            </a:r>
            <a:endParaRPr lang="en-US" sz="1500" dirty="0"/>
          </a:p>
          <a:p>
            <a:pPr marL="342900" indent="-342900">
              <a:spcAft>
                <a:spcPts val="700"/>
              </a:spcAft>
              <a:buSzPct val="100000"/>
              <a:buChar char="▶"/>
            </a:pPr>
            <a:r>
              <a:rPr lang="en-US" sz="1500" dirty="0">
                <a:solidFill>
                  <a:srgbClr val="1B2430"/>
                </a:solidFill>
              </a:rPr>
              <a:t>Accuse the culprit; wrong evidence costs credibility</a:t>
            </a:r>
            <a:endParaRPr lang="en-US" sz="1500" dirty="0"/>
          </a:p>
          <a:p>
            <a:pPr marL="342900" indent="-342900">
              <a:spcAft>
                <a:spcPts val="700"/>
              </a:spcAft>
              <a:buSzPct val="100000"/>
              <a:buChar char="▶"/>
            </a:pPr>
            <a:r>
              <a:rPr lang="en-US" sz="1500" dirty="0">
                <a:solidFill>
                  <a:srgbClr val="1B2430"/>
                </a:solidFill>
              </a:rPr>
              <a:t>Save progress and log in (planned for Phase-III)</a:t>
            </a:r>
            <a:endParaRPr lang="en-US" sz="1500" dirty="0"/>
          </a:p>
        </p:txBody>
      </p:sp>
      <p:sp>
        <p:nvSpPr>
          <p:cNvPr id="21" name="Module dependency card"/>
          <p:cNvSpPr/>
          <p:nvPr/>
        </p:nvSpPr>
        <p:spPr>
          <a:xfrm>
            <a:off x="548640" y="5074920"/>
            <a:ext cx="11091672" cy="1188720"/>
          </a:xfrm>
          <a:prstGeom prst="roundRect">
            <a:avLst>
              <a:gd name="adj" fmla="val 9231"/>
            </a:avLst>
          </a:prstGeom>
          <a:solidFill>
            <a:schemeClr val="bg2"/>
          </a:solidFill>
          <a:ln w="12700">
            <a:solidFill>
              <a:schemeClr val="bg2"/>
            </a:solidFill>
            <a:prstDash val="solid"/>
          </a:ln>
        </p:spPr>
      </p:sp>
      <p:sp>
        <p:nvSpPr>
          <p:cNvPr id="22" name="Heading: Module Dependency"/>
          <p:cNvSpPr txBox="1"/>
          <p:nvPr/>
        </p:nvSpPr>
        <p:spPr>
          <a:xfrm>
            <a:off x="777240" y="5138928"/>
            <a:ext cx="4572000" cy="411480"/>
          </a:xfrm>
          <a:prstGeom prst="rect">
            <a:avLst/>
          </a:prstGeom>
          <a:noFill/>
          <a:ln/>
        </p:spPr>
        <p:txBody>
          <a:bodyPr wrap="square" lIns="0" tIns="0" rIns="0" bIns="0" rtlCol="0" anchor="ctr"/>
          <a:lstStyle/>
          <a:p>
            <a:pPr indent="0" marL="0">
              <a:buNone/>
            </a:pPr>
            <a:r>
              <a:rPr lang="en-US" sz="1800" b="1" dirty="0">
                <a:solidFill>
                  <a:schemeClr val="tx2"/>
                </a:solidFill>
              </a:rPr>
              <a:t>Module Dependency</a:t>
            </a:r>
            <a:endParaRPr lang="en-US" sz="1800" dirty="0"/>
          </a:p>
        </p:txBody>
      </p:sp>
      <p:sp>
        <p:nvSpPr>
          <p:cNvPr id="23" name="Module dependency text"/>
          <p:cNvSpPr txBox="1"/>
          <p:nvPr/>
        </p:nvSpPr>
        <p:spPr>
          <a:xfrm>
            <a:off x="777240" y="5532120"/>
            <a:ext cx="10607040" cy="685800"/>
          </a:xfrm>
          <a:prstGeom prst="rect">
            <a:avLst/>
          </a:prstGeom>
          <a:noFill/>
          <a:ln/>
        </p:spPr>
        <p:txBody>
          <a:bodyPr wrap="square" lIns="0" tIns="0" rIns="0" bIns="0" rtlCol="0" anchor="t"/>
          <a:lstStyle/>
          <a:p>
            <a:pPr indent="0" marL="0">
              <a:buNone/>
            </a:pPr>
            <a:r>
              <a:rPr lang="en-US" sz="1400" dirty="0">
                <a:solidFill>
                  <a:schemeClr val="tx1"/>
                </a:solidFill>
              </a:rPr>
              <a:t>The Qt screen asks the engine for every rule decision; the engine never touches the screen. The validator and the map checker both read the case data. SQLite will later feed cases and progress into the engine.</a:t>
            </a:r>
            <a:endParaRPr lang="en-US" sz="14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Technology Stack &amp; Development Methodology</a:t>
            </a:r>
            <a:endParaRPr lang="en-US" sz="3200" dirty="0"/>
          </a:p>
        </p:txBody>
      </p:sp>
      <p:sp>
        <p:nvSpPr>
          <p:cNvPr id="3" name="Technology stack card"/>
          <p:cNvSpPr/>
          <p:nvPr/>
        </p:nvSpPr>
        <p:spPr>
          <a:xfrm>
            <a:off x="548640" y="1508760"/>
            <a:ext cx="5486400" cy="3977640"/>
          </a:xfrm>
          <a:prstGeom prst="roundRect">
            <a:avLst>
              <a:gd name="adj" fmla="val 2759"/>
            </a:avLst>
          </a:prstGeom>
          <a:solidFill>
            <a:schemeClr val="bg2"/>
          </a:solidFill>
          <a:ln w="12700">
            <a:solidFill>
              <a:schemeClr val="bg2"/>
            </a:solidFill>
            <a:prstDash val="solid"/>
          </a:ln>
        </p:spPr>
      </p:sp>
      <p:sp>
        <p:nvSpPr>
          <p:cNvPr id="4" name="Heading: Technology Stack"/>
          <p:cNvSpPr txBox="1"/>
          <p:nvPr/>
        </p:nvSpPr>
        <p:spPr>
          <a:xfrm>
            <a:off x="777240" y="1645920"/>
            <a:ext cx="5029200" cy="411480"/>
          </a:xfrm>
          <a:prstGeom prst="rect">
            <a:avLst/>
          </a:prstGeom>
          <a:noFill/>
          <a:ln/>
        </p:spPr>
        <p:txBody>
          <a:bodyPr wrap="square" lIns="0" tIns="0" rIns="0" bIns="0" rtlCol="0" anchor="ctr"/>
          <a:lstStyle/>
          <a:p>
            <a:pPr indent="0" marL="0">
              <a:buNone/>
            </a:pPr>
            <a:r>
              <a:rPr lang="en-US" sz="2000" b="1" dirty="0">
                <a:solidFill>
                  <a:schemeClr val="tx2"/>
                </a:solidFill>
              </a:rPr>
              <a:t>Technology Stack</a:t>
            </a:r>
            <a:endParaRPr lang="en-US" sz="2000" dirty="0"/>
          </a:p>
        </p:txBody>
      </p:sp>
      <p:sp>
        <p:nvSpPr>
          <p:cNvPr id="5" name="Bullet: Programming:"/>
          <p:cNvSpPr/>
          <p:nvPr/>
        </p:nvSpPr>
        <p:spPr>
          <a:xfrm rot="5400000">
            <a:off x="777240" y="2377440"/>
            <a:ext cx="182880" cy="164592"/>
          </a:xfrm>
          <a:prstGeom prst="triangle">
            <a:avLst/>
          </a:prstGeom>
          <a:solidFill>
            <a:schemeClr val="tx2"/>
          </a:solidFill>
          <a:ln w="12700">
            <a:solidFill>
              <a:schemeClr val="tx2"/>
            </a:solidFill>
            <a:prstDash val="solid"/>
          </a:ln>
        </p:spPr>
      </p:sp>
      <p:sp>
        <p:nvSpPr>
          <p:cNvPr id="6" name="Label: Programming:"/>
          <p:cNvSpPr txBox="1"/>
          <p:nvPr/>
        </p:nvSpPr>
        <p:spPr>
          <a:xfrm>
            <a:off x="1088136" y="2240280"/>
            <a:ext cx="1600200" cy="457200"/>
          </a:xfrm>
          <a:prstGeom prst="rect">
            <a:avLst/>
          </a:prstGeom>
          <a:noFill/>
          <a:ln/>
        </p:spPr>
        <p:txBody>
          <a:bodyPr wrap="square" lIns="0" tIns="0" rIns="0" bIns="0" rtlCol="0" anchor="ctr"/>
          <a:lstStyle/>
          <a:p>
            <a:pPr indent="0" marL="0">
              <a:buNone/>
            </a:pPr>
            <a:r>
              <a:rPr lang="en-US" sz="1700" b="1" dirty="0">
                <a:solidFill>
                  <a:schemeClr val="tx1"/>
                </a:solidFill>
              </a:rPr>
              <a:t>Programming:</a:t>
            </a:r>
            <a:endParaRPr lang="en-US" sz="1700" dirty="0"/>
          </a:p>
        </p:txBody>
      </p:sp>
      <p:sp>
        <p:nvSpPr>
          <p:cNvPr id="7" name="Value: Programming:"/>
          <p:cNvSpPr txBox="1"/>
          <p:nvPr/>
        </p:nvSpPr>
        <p:spPr>
          <a:xfrm>
            <a:off x="2779776" y="2240280"/>
            <a:ext cx="2834640" cy="457200"/>
          </a:xfrm>
          <a:prstGeom prst="rect">
            <a:avLst/>
          </a:prstGeom>
          <a:noFill/>
          <a:ln/>
        </p:spPr>
        <p:txBody>
          <a:bodyPr wrap="square" lIns="0" tIns="0" rIns="0" bIns="0" rtlCol="0" anchor="ctr"/>
          <a:lstStyle/>
          <a:p>
            <a:pPr indent="0" marL="0">
              <a:buNone/>
            </a:pPr>
            <a:r>
              <a:rPr lang="en-US" sz="1700" dirty="0">
                <a:solidFill>
                  <a:schemeClr val="tx1"/>
                </a:solidFill>
              </a:rPr>
              <a:t>C++17</a:t>
            </a:r>
            <a:endParaRPr lang="en-US" sz="1700" dirty="0"/>
          </a:p>
        </p:txBody>
      </p:sp>
      <p:sp>
        <p:nvSpPr>
          <p:cNvPr id="8" name="Bullet: Database:"/>
          <p:cNvSpPr/>
          <p:nvPr/>
        </p:nvSpPr>
        <p:spPr>
          <a:xfrm rot="5400000">
            <a:off x="777240" y="2926080"/>
            <a:ext cx="182880" cy="164592"/>
          </a:xfrm>
          <a:prstGeom prst="triangle">
            <a:avLst/>
          </a:prstGeom>
          <a:solidFill>
            <a:schemeClr val="tx2"/>
          </a:solidFill>
          <a:ln w="12700">
            <a:solidFill>
              <a:schemeClr val="tx2"/>
            </a:solidFill>
            <a:prstDash val="solid"/>
          </a:ln>
        </p:spPr>
      </p:sp>
      <p:sp>
        <p:nvSpPr>
          <p:cNvPr id="9" name="Label: Database:"/>
          <p:cNvSpPr txBox="1"/>
          <p:nvPr/>
        </p:nvSpPr>
        <p:spPr>
          <a:xfrm>
            <a:off x="1088136" y="2788920"/>
            <a:ext cx="1600200" cy="457200"/>
          </a:xfrm>
          <a:prstGeom prst="rect">
            <a:avLst/>
          </a:prstGeom>
          <a:noFill/>
          <a:ln/>
        </p:spPr>
        <p:txBody>
          <a:bodyPr wrap="square" lIns="0" tIns="0" rIns="0" bIns="0" rtlCol="0" anchor="ctr"/>
          <a:lstStyle/>
          <a:p>
            <a:pPr indent="0" marL="0">
              <a:buNone/>
            </a:pPr>
            <a:r>
              <a:rPr lang="en-US" sz="1700" b="1" dirty="0">
                <a:solidFill>
                  <a:schemeClr val="tx1"/>
                </a:solidFill>
              </a:rPr>
              <a:t>Database:</a:t>
            </a:r>
            <a:endParaRPr lang="en-US" sz="1700" dirty="0"/>
          </a:p>
        </p:txBody>
      </p:sp>
      <p:sp>
        <p:nvSpPr>
          <p:cNvPr id="10" name="Value: Database:"/>
          <p:cNvSpPr txBox="1"/>
          <p:nvPr/>
        </p:nvSpPr>
        <p:spPr>
          <a:xfrm>
            <a:off x="2779776" y="2788920"/>
            <a:ext cx="2834640" cy="457200"/>
          </a:xfrm>
          <a:prstGeom prst="rect">
            <a:avLst/>
          </a:prstGeom>
          <a:noFill/>
          <a:ln/>
        </p:spPr>
        <p:txBody>
          <a:bodyPr wrap="square" lIns="0" tIns="0" rIns="0" bIns="0" rtlCol="0" anchor="ctr"/>
          <a:lstStyle/>
          <a:p>
            <a:pPr indent="0" marL="0">
              <a:buNone/>
            </a:pPr>
            <a:r>
              <a:rPr lang="en-US" sz="1700" dirty="0">
                <a:solidFill>
                  <a:schemeClr val="tx1"/>
                </a:solidFill>
              </a:rPr>
              <a:t>SQLite (planned, Phase-III)</a:t>
            </a:r>
            <a:endParaRPr lang="en-US" sz="1700" dirty="0"/>
          </a:p>
        </p:txBody>
      </p:sp>
      <p:sp>
        <p:nvSpPr>
          <p:cNvPr id="11" name="Bullet: Framework:"/>
          <p:cNvSpPr/>
          <p:nvPr/>
        </p:nvSpPr>
        <p:spPr>
          <a:xfrm rot="5400000">
            <a:off x="777240" y="3474720"/>
            <a:ext cx="182880" cy="164592"/>
          </a:xfrm>
          <a:prstGeom prst="triangle">
            <a:avLst/>
          </a:prstGeom>
          <a:solidFill>
            <a:schemeClr val="tx2"/>
          </a:solidFill>
          <a:ln w="12700">
            <a:solidFill>
              <a:schemeClr val="tx2"/>
            </a:solidFill>
            <a:prstDash val="solid"/>
          </a:ln>
        </p:spPr>
      </p:sp>
      <p:sp>
        <p:nvSpPr>
          <p:cNvPr id="12" name="Label: Framework:"/>
          <p:cNvSpPr txBox="1"/>
          <p:nvPr/>
        </p:nvSpPr>
        <p:spPr>
          <a:xfrm>
            <a:off x="1088136" y="3337560"/>
            <a:ext cx="1600200" cy="457200"/>
          </a:xfrm>
          <a:prstGeom prst="rect">
            <a:avLst/>
          </a:prstGeom>
          <a:noFill/>
          <a:ln/>
        </p:spPr>
        <p:txBody>
          <a:bodyPr wrap="square" lIns="0" tIns="0" rIns="0" bIns="0" rtlCol="0" anchor="ctr"/>
          <a:lstStyle/>
          <a:p>
            <a:pPr indent="0" marL="0">
              <a:buNone/>
            </a:pPr>
            <a:r>
              <a:rPr lang="en-US" sz="1700" b="1" dirty="0">
                <a:solidFill>
                  <a:schemeClr val="tx1"/>
                </a:solidFill>
              </a:rPr>
              <a:t>Framework:</a:t>
            </a:r>
            <a:endParaRPr lang="en-US" sz="1700" dirty="0"/>
          </a:p>
        </p:txBody>
      </p:sp>
      <p:sp>
        <p:nvSpPr>
          <p:cNvPr id="13" name="Value: Framework:"/>
          <p:cNvSpPr txBox="1"/>
          <p:nvPr/>
        </p:nvSpPr>
        <p:spPr>
          <a:xfrm>
            <a:off x="2779776" y="3337560"/>
            <a:ext cx="2834640" cy="457200"/>
          </a:xfrm>
          <a:prstGeom prst="rect">
            <a:avLst/>
          </a:prstGeom>
          <a:noFill/>
          <a:ln/>
        </p:spPr>
        <p:txBody>
          <a:bodyPr wrap="square" lIns="0" tIns="0" rIns="0" bIns="0" rtlCol="0" anchor="ctr"/>
          <a:lstStyle/>
          <a:p>
            <a:pPr indent="0" marL="0">
              <a:buNone/>
            </a:pPr>
            <a:r>
              <a:rPr lang="en-US" sz="1700" dirty="0">
                <a:solidFill>
                  <a:schemeClr val="tx1"/>
                </a:solidFill>
              </a:rPr>
              <a:t>Qt 6 (Widgets)</a:t>
            </a:r>
            <a:endParaRPr lang="en-US" sz="1700" dirty="0"/>
          </a:p>
        </p:txBody>
      </p:sp>
      <p:sp>
        <p:nvSpPr>
          <p:cNvPr id="14" name="Bullet: Dev tools:"/>
          <p:cNvSpPr/>
          <p:nvPr/>
        </p:nvSpPr>
        <p:spPr>
          <a:xfrm rot="5400000">
            <a:off x="777240" y="4137660"/>
            <a:ext cx="182880" cy="164592"/>
          </a:xfrm>
          <a:prstGeom prst="triangle">
            <a:avLst/>
          </a:prstGeom>
          <a:solidFill>
            <a:schemeClr val="tx2"/>
          </a:solidFill>
          <a:ln w="12700">
            <a:solidFill>
              <a:schemeClr val="tx2"/>
            </a:solidFill>
            <a:prstDash val="solid"/>
          </a:ln>
        </p:spPr>
      </p:sp>
      <p:sp>
        <p:nvSpPr>
          <p:cNvPr id="15" name="Label: Dev tools:"/>
          <p:cNvSpPr txBox="1"/>
          <p:nvPr/>
        </p:nvSpPr>
        <p:spPr>
          <a:xfrm>
            <a:off x="1088136" y="3886200"/>
            <a:ext cx="1600200" cy="685800"/>
          </a:xfrm>
          <a:prstGeom prst="rect">
            <a:avLst/>
          </a:prstGeom>
          <a:noFill/>
          <a:ln/>
        </p:spPr>
        <p:txBody>
          <a:bodyPr wrap="square" lIns="0" tIns="0" rIns="0" bIns="0" rtlCol="0" anchor="ctr"/>
          <a:lstStyle/>
          <a:p>
            <a:pPr indent="0" marL="0">
              <a:buNone/>
            </a:pPr>
            <a:r>
              <a:rPr lang="en-US" sz="1700" b="1" dirty="0">
                <a:solidFill>
                  <a:schemeClr val="tx1"/>
                </a:solidFill>
              </a:rPr>
              <a:t>Dev tools:</a:t>
            </a:r>
            <a:endParaRPr lang="en-US" sz="1700" dirty="0"/>
          </a:p>
        </p:txBody>
      </p:sp>
      <p:sp>
        <p:nvSpPr>
          <p:cNvPr id="16" name="Value: Dev tools:"/>
          <p:cNvSpPr txBox="1"/>
          <p:nvPr/>
        </p:nvSpPr>
        <p:spPr>
          <a:xfrm>
            <a:off x="2779776" y="3886200"/>
            <a:ext cx="2834640" cy="685800"/>
          </a:xfrm>
          <a:prstGeom prst="rect">
            <a:avLst/>
          </a:prstGeom>
          <a:noFill/>
          <a:ln/>
        </p:spPr>
        <p:txBody>
          <a:bodyPr wrap="square" lIns="0" tIns="0" rIns="0" bIns="0" rtlCol="0" anchor="ctr"/>
          <a:lstStyle/>
          <a:p>
            <a:pPr indent="0" marL="0">
              <a:buNone/>
            </a:pPr>
            <a:r>
              <a:rPr lang="en-US" sz="1700" dirty="0">
                <a:solidFill>
                  <a:schemeClr val="tx1"/>
                </a:solidFill>
              </a:rPr>
              <a:t>Qt Creator, CMake, Tiled map editor</a:t>
            </a:r>
            <a:endParaRPr lang="en-US" sz="1700" dirty="0"/>
          </a:p>
        </p:txBody>
      </p:sp>
      <p:sp>
        <p:nvSpPr>
          <p:cNvPr id="17" name="Bullet: Version control:"/>
          <p:cNvSpPr/>
          <p:nvPr/>
        </p:nvSpPr>
        <p:spPr>
          <a:xfrm rot="5400000">
            <a:off x="777240" y="4800600"/>
            <a:ext cx="182880" cy="164592"/>
          </a:xfrm>
          <a:prstGeom prst="triangle">
            <a:avLst/>
          </a:prstGeom>
          <a:solidFill>
            <a:schemeClr val="tx2"/>
          </a:solidFill>
          <a:ln w="12700">
            <a:solidFill>
              <a:schemeClr val="tx2"/>
            </a:solidFill>
            <a:prstDash val="solid"/>
          </a:ln>
        </p:spPr>
      </p:sp>
      <p:sp>
        <p:nvSpPr>
          <p:cNvPr id="18" name="Label: Version control:"/>
          <p:cNvSpPr txBox="1"/>
          <p:nvPr/>
        </p:nvSpPr>
        <p:spPr>
          <a:xfrm>
            <a:off x="1088136" y="4663440"/>
            <a:ext cx="1600200" cy="457200"/>
          </a:xfrm>
          <a:prstGeom prst="rect">
            <a:avLst/>
          </a:prstGeom>
          <a:noFill/>
          <a:ln/>
        </p:spPr>
        <p:txBody>
          <a:bodyPr wrap="square" lIns="0" tIns="0" rIns="0" bIns="0" rtlCol="0" anchor="ctr"/>
          <a:lstStyle/>
          <a:p>
            <a:pPr indent="0" marL="0">
              <a:buNone/>
            </a:pPr>
            <a:r>
              <a:rPr lang="en-US" sz="1700" b="1" dirty="0">
                <a:solidFill>
                  <a:schemeClr val="tx1"/>
                </a:solidFill>
              </a:rPr>
              <a:t>Version control:</a:t>
            </a:r>
            <a:endParaRPr lang="en-US" sz="1700" dirty="0"/>
          </a:p>
        </p:txBody>
      </p:sp>
      <p:sp>
        <p:nvSpPr>
          <p:cNvPr id="19" name="Value: Version control:"/>
          <p:cNvSpPr txBox="1"/>
          <p:nvPr/>
        </p:nvSpPr>
        <p:spPr>
          <a:xfrm>
            <a:off x="2779776" y="4663440"/>
            <a:ext cx="2834640" cy="457200"/>
          </a:xfrm>
          <a:prstGeom prst="rect">
            <a:avLst/>
          </a:prstGeom>
          <a:noFill/>
          <a:ln/>
        </p:spPr>
        <p:txBody>
          <a:bodyPr wrap="square" lIns="0" tIns="0" rIns="0" bIns="0" rtlCol="0" anchor="ctr"/>
          <a:lstStyle/>
          <a:p>
            <a:pPr indent="0" marL="0">
              <a:buNone/>
            </a:pPr>
            <a:r>
              <a:rPr lang="en-US" sz="1700" dirty="0">
                <a:solidFill>
                  <a:schemeClr val="tx1"/>
                </a:solidFill>
              </a:rPr>
              <a:t>Git / GitHub</a:t>
            </a:r>
            <a:endParaRPr lang="en-US" sz="1700" dirty="0"/>
          </a:p>
        </p:txBody>
      </p:sp>
      <p:sp>
        <p:nvSpPr>
          <p:cNvPr id="20" name="Methodology card"/>
          <p:cNvSpPr/>
          <p:nvPr/>
        </p:nvSpPr>
        <p:spPr>
          <a:xfrm>
            <a:off x="6309360" y="1508760"/>
            <a:ext cx="5330952" cy="3977640"/>
          </a:xfrm>
          <a:prstGeom prst="roundRect">
            <a:avLst>
              <a:gd name="adj" fmla="val 2759"/>
            </a:avLst>
          </a:prstGeom>
          <a:solidFill>
            <a:schemeClr val="bg2"/>
          </a:solidFill>
          <a:ln w="12700">
            <a:solidFill>
              <a:schemeClr val="bg2"/>
            </a:solidFill>
            <a:prstDash val="solid"/>
          </a:ln>
        </p:spPr>
      </p:sp>
      <p:sp>
        <p:nvSpPr>
          <p:cNvPr id="21" name="Heading: Development Methodology"/>
          <p:cNvSpPr txBox="1"/>
          <p:nvPr/>
        </p:nvSpPr>
        <p:spPr>
          <a:xfrm>
            <a:off x="6537960" y="1645920"/>
            <a:ext cx="4937760" cy="411480"/>
          </a:xfrm>
          <a:prstGeom prst="rect">
            <a:avLst/>
          </a:prstGeom>
          <a:noFill/>
          <a:ln/>
        </p:spPr>
        <p:txBody>
          <a:bodyPr wrap="square" lIns="0" tIns="0" rIns="0" bIns="0" rtlCol="0" anchor="ctr"/>
          <a:lstStyle/>
          <a:p>
            <a:pPr indent="0" marL="0">
              <a:buNone/>
            </a:pPr>
            <a:r>
              <a:rPr lang="en-US" sz="2000" b="1" dirty="0">
                <a:solidFill>
                  <a:schemeClr val="tx2"/>
                </a:solidFill>
              </a:rPr>
              <a:t>Development Methodology</a:t>
            </a:r>
            <a:endParaRPr lang="en-US" sz="2000" dirty="0"/>
          </a:p>
        </p:txBody>
      </p:sp>
      <p:sp>
        <p:nvSpPr>
          <p:cNvPr id="22" name="Methodology list"/>
          <p:cNvSpPr txBox="1"/>
          <p:nvPr/>
        </p:nvSpPr>
        <p:spPr>
          <a:xfrm>
            <a:off x="6537960" y="2194560"/>
            <a:ext cx="4892040" cy="310896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600" dirty="0">
                <a:solidFill>
                  <a:srgbClr val="1B2430"/>
                </a:solidFill>
              </a:rPr>
              <a:t>Requirement analysis: done in Phase-I</a:t>
            </a:r>
            <a:endParaRPr lang="en-US" sz="1600" dirty="0"/>
          </a:p>
          <a:p>
            <a:pPr marL="342900" indent="-342900">
              <a:spcAft>
                <a:spcPts val="1200"/>
              </a:spcAft>
              <a:buSzPct val="100000"/>
              <a:buFont typeface="+mj-lt"/>
              <a:buAutoNum type="arabicPeriod" startAt="1"/>
            </a:pPr>
            <a:r>
              <a:rPr lang="en-US" sz="1600" dirty="0">
                <a:solidFill>
                  <a:srgbClr val="1B2430"/>
                </a:solidFill>
              </a:rPr>
              <a:t>System design: engine, screen and data kept separate</a:t>
            </a:r>
            <a:endParaRPr lang="en-US" sz="1600" dirty="0"/>
          </a:p>
          <a:p>
            <a:pPr marL="342900" indent="-342900">
              <a:spcAft>
                <a:spcPts val="1200"/>
              </a:spcAft>
              <a:buSzPct val="100000"/>
              <a:buFont typeface="+mj-lt"/>
              <a:buAutoNum type="arabicPeriod" startAt="1"/>
            </a:pPr>
            <a:r>
              <a:rPr lang="en-US" sz="1600" dirty="0">
                <a:solidFill>
                  <a:srgbClr val="1B2430"/>
                </a:solidFill>
              </a:rPr>
              <a:t>Module development: one module at a time, each with tests</a:t>
            </a:r>
            <a:endParaRPr lang="en-US" sz="1600" dirty="0"/>
          </a:p>
          <a:p>
            <a:pPr marL="342900" indent="-342900">
              <a:spcAft>
                <a:spcPts val="1200"/>
              </a:spcAft>
              <a:buSzPct val="100000"/>
              <a:buFont typeface="+mj-lt"/>
              <a:buAutoNum type="arabicPeriod" startAt="1"/>
            </a:pPr>
            <a:r>
              <a:rPr lang="en-US" sz="1600" dirty="0">
                <a:solidFill>
                  <a:srgbClr val="1B2430"/>
                </a:solidFill>
              </a:rPr>
              <a:t>Integration: engine, Qt and maps joined; SQLite pending</a:t>
            </a:r>
            <a:endParaRPr lang="en-US" sz="1600" dirty="0"/>
          </a:p>
          <a:p>
            <a:pPr marL="342900" indent="-342900">
              <a:spcAft>
                <a:spcPts val="1200"/>
              </a:spcAft>
              <a:buSzPct val="100000"/>
              <a:buFont typeface="+mj-lt"/>
              <a:buAutoNum type="arabicPeriod" startAt="1"/>
            </a:pPr>
            <a:r>
              <a:rPr lang="en-US" sz="1600" dirty="0">
                <a:solidFill>
                  <a:srgbClr val="1B2430"/>
                </a:solidFill>
              </a:rPr>
              <a:t>Testing and validation: automated tests done; playtests pending</a:t>
            </a:r>
            <a:endParaRPr lang="en-US" sz="1600" dirty="0"/>
          </a:p>
        </p:txBody>
      </p:sp>
      <p:sp>
        <p:nvSpPr>
          <p:cNvPr id="23" name="Rationale"/>
          <p:cNvSpPr txBox="1"/>
          <p:nvPr/>
        </p:nvSpPr>
        <p:spPr>
          <a:xfrm>
            <a:off x="548640" y="5669280"/>
            <a:ext cx="11091672" cy="548640"/>
          </a:xfrm>
          <a:prstGeom prst="rect">
            <a:avLst/>
          </a:prstGeom>
          <a:noFill/>
          <a:ln/>
        </p:spPr>
        <p:txBody>
          <a:bodyPr wrap="square" lIns="0" tIns="0" rIns="0" bIns="0" rtlCol="0" anchor="ctr"/>
          <a:lstStyle/>
          <a:p>
            <a:pPr indent="0" marL="0">
              <a:buNone/>
            </a:pPr>
            <a:r>
              <a:rPr lang="en-US" sz="1400" i="1" dirty="0">
                <a:solidFill>
                  <a:schemeClr val="accent5"/>
                </a:solidFill>
              </a:rPr>
              <a:t>Why these choices: C++ and Qt give a fast native game with real classes; Tiled is a standard map editor; SQLite needs no server.</a:t>
            </a:r>
            <a:endParaRPr lang="en-US" sz="14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Implementation of PBL Course Concepts</a:t>
            </a:r>
            <a:endParaRPr lang="en-US" sz="3200" dirty="0"/>
          </a:p>
        </p:txBody>
      </p:sp>
      <p:graphicFrame>
        <p:nvGraphicFramePr>
          <p:cNvPr id="9" name="Course concept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331720"/>
                <a:gridCol w="6035040"/>
                <a:gridCol w="2724912"/>
              </a:tblGrid>
              <a:tr h="384048">
                <a:tc>
                  <a:txBody>
                    <a:bodyPr/>
                    <a:lstStyle/>
                    <a:p>
                      <a:pPr indent="0" marL="0">
                        <a:buNone/>
                      </a:pPr>
                      <a:r>
                        <a:rPr lang="en-US" sz="1400" b="1" dirty="0">
                          <a:solidFill>
                            <a:srgbClr val="FFFFFF"/>
                          </a:solidFill>
                        </a:rPr>
                        <a:t>Concept</a:t>
                      </a:r>
                      <a:endParaRPr lang="en-US" sz="14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c>
                  <a:txBody>
                    <a:bodyPr/>
                    <a:lstStyle/>
                    <a:p>
                      <a:pPr indent="0" marL="0">
                        <a:buNone/>
                      </a:pPr>
                      <a:r>
                        <a:rPr lang="en-US" sz="1400" b="1" dirty="0">
                          <a:solidFill>
                            <a:srgbClr val="FFFFFF"/>
                          </a:solidFill>
                        </a:rPr>
                        <a:t>Where and how it is used in the game</a:t>
                      </a:r>
                      <a:endParaRPr lang="en-US" sz="14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c>
                  <a:txBody>
                    <a:bodyPr/>
                    <a:lstStyle/>
                    <a:p>
                      <a:pPr indent="0" marL="0">
                        <a:buNone/>
                      </a:pPr>
                      <a:r>
                        <a:rPr lang="en-US" sz="1400" b="1" dirty="0">
                          <a:solidFill>
                            <a:srgbClr val="FFFFFF"/>
                          </a:solidFill>
                        </a:rPr>
                        <a:t>Module / complexity</a:t>
                      </a:r>
                      <a:endParaRPr lang="en-US" sz="14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r>
              <a:tr h="749808">
                <a:tc>
                  <a:txBody>
                    <a:bodyPr/>
                    <a:lstStyle/>
                    <a:p>
                      <a:pPr indent="0" marL="0">
                        <a:buNone/>
                      </a:pPr>
                      <a:r>
                        <a:rPr lang="en-US" sz="1300" b="1" dirty="0">
                          <a:solidFill>
                            <a:srgbClr val="1B2430"/>
                          </a:solidFill>
                        </a:rPr>
                        <a:t>Graph + BFS</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Rooms are vertices, doors are edges; locked doors open only with a clue. BFS finds the rooms the player can reach. A second BFS on the tile grid proves nothing is walled off.</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Validator.h, Interact.h • O(V + E)</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1B2430"/>
                          </a:solidFill>
                        </a:rPr>
                        <a:t>DAG + topological sort</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Clue prerequisites form a DAG. Kahn’s algorithm detects impossible cycles.</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Validator.h • O(V + E)</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Hash tables</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Find any clue, room or person by ID; check held clues instantly.</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Case.h, Game.h • O(1) average</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Stack</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Undo of moves and clues (last in, first out).</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Game.h • O(1) push and pop</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1B2430"/>
                          </a:solidFill>
                        </a:rPr>
                        <a:t>Queue, recursion, arrays</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Queue inside BFS and Kahn; recursion in the JSON map parser; vectors for tile maps.</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Validator.h, JsonLite.h • O(n)</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1B2430"/>
                          </a:solidFill>
                        </a:rPr>
                        <a:t>OOP with C++</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Abstract class Entity; inheritance (Location, Clue, Suspect); polymorphism (virtual functions, Qt overrides); encapsulation.</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Entities.h, Case.h, Game.h</a:t>
                      </a:r>
                      <a:endParaRPr lang="en-US" sz="1300" dirty="0"/>
                    </a:p>
                  </a:txBody>
                  <a:tcPr marL="91440" marR="91440" marT="36576" marB="36576"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bl>
          </a:graphicData>
        </a:graphic>
      </p:graphicFrame>
      <p:sp>
        <p:nvSpPr>
          <p:cNvPr id="4" name="Notes card"/>
          <p:cNvSpPr/>
          <p:nvPr/>
        </p:nvSpPr>
        <p:spPr>
          <a:xfrm>
            <a:off x="548640" y="5486400"/>
            <a:ext cx="11091672" cy="822960"/>
          </a:xfrm>
          <a:prstGeom prst="roundRect">
            <a:avLst>
              <a:gd name="adj" fmla="val 13333"/>
            </a:avLst>
          </a:prstGeom>
          <a:solidFill>
            <a:schemeClr val="bg2"/>
          </a:solidFill>
          <a:ln w="12700">
            <a:solidFill>
              <a:schemeClr val="bg2"/>
            </a:solidFill>
            <a:prstDash val="solid"/>
          </a:ln>
        </p:spPr>
      </p:sp>
      <p:sp>
        <p:nvSpPr>
          <p:cNvPr id="5" name="Notes text"/>
          <p:cNvSpPr txBox="1"/>
          <p:nvPr/>
        </p:nvSpPr>
        <p:spPr>
          <a:xfrm>
            <a:off x="777240" y="5532120"/>
            <a:ext cx="10607040" cy="73152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B2430"/>
                </a:solidFill>
              </a:rPr>
              <a:t>Containers come from the C++ STL; the algorithms (BFS, Kahn’s sort, the perfect-player validator) are written by us</a:t>
            </a:r>
            <a:endParaRPr lang="en-US" sz="1300" dirty="0"/>
          </a:p>
          <a:p>
            <a:pPr marL="342900" indent="-342900">
              <a:spcAft>
                <a:spcPts val="800"/>
              </a:spcAft>
              <a:buSzPct val="100000"/>
              <a:buChar char="▶"/>
            </a:pPr>
            <a:r>
              <a:rPr lang="en-US" sz="1300" dirty="0">
                <a:solidFill>
                  <a:srgbClr val="1B2430"/>
                </a:solidFill>
              </a:rPr>
              <a:t>Not claimed yet: DBMS concepts (SQLite planned for Phase-III) and operating-system concepts</a:t>
            </a:r>
            <a:endParaRPr lang="en-US" sz="13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Development &amp; Implementation Progress</a:t>
            </a:r>
            <a:endParaRPr lang="en-US" sz="3200" dirty="0"/>
          </a:p>
        </p:txBody>
      </p:sp>
      <p:graphicFrame>
        <p:nvGraphicFramePr>
          <p:cNvPr id="10" name="Progress table"/>
          <p:cNvGraphicFramePr>
            <a:graphicFrameLocks noGrp="1"/>
          </p:cNvGraphicFramePr>
          <p:nvPr>
            <p:extLst>
              <p:ext uri="{D42A27DB-BD31-4B8C-83A1-F6EECF244321}">
                <p14:modId xmlns:p14="http://schemas.microsoft.com/office/powerpoint/2010/main" val="1579011935"/>
              </p:ext>
            </p:extLst>
          </p:nvPr>
        </p:nvGraphicFramePr>
        <p:xfrm>
          <a:off x="548640" y="1463040"/>
          <a:ext cx="8183880" cy="914400"/>
        </p:xfrm>
        <a:graphic>
          <a:graphicData uri="http://schemas.openxmlformats.org/drawingml/2006/table">
            <a:tbl>
              <a:tblPr/>
              <a:tblGrid>
                <a:gridCol w="2011680"/>
                <a:gridCol w="1783080"/>
                <a:gridCol w="4389120"/>
              </a:tblGrid>
              <a:tr h="411480">
                <a:tc>
                  <a:txBody>
                    <a:bodyPr/>
                    <a:lstStyle/>
                    <a:p>
                      <a:pPr indent="0" marL="0">
                        <a:buNone/>
                      </a:pPr>
                      <a:r>
                        <a:rPr lang="en-US" sz="1400" b="1" dirty="0">
                          <a:solidFill>
                            <a:srgbClr val="FFFFFF"/>
                          </a:solidFill>
                        </a:rPr>
                        <a:t>Module</a:t>
                      </a:r>
                      <a:endParaRPr lang="en-US" sz="14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c>
                  <a:txBody>
                    <a:bodyPr/>
                    <a:lstStyle/>
                    <a:p>
                      <a:pPr indent="0" marL="0">
                        <a:buNone/>
                      </a:pPr>
                      <a:r>
                        <a:rPr lang="en-US" sz="1400" b="1" dirty="0">
                          <a:solidFill>
                            <a:srgbClr val="FFFFFF"/>
                          </a:solidFill>
                        </a:rPr>
                        <a:t>Status</a:t>
                      </a:r>
                      <a:endParaRPr lang="en-US" sz="14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c>
                  <a:txBody>
                    <a:bodyPr/>
                    <a:lstStyle/>
                    <a:p>
                      <a:pPr indent="0" marL="0">
                        <a:buNone/>
                      </a:pPr>
                      <a:r>
                        <a:rPr lang="en-US" sz="1400" b="1" dirty="0">
                          <a:solidFill>
                            <a:srgbClr val="FFFFFF"/>
                          </a:solidFill>
                        </a:rPr>
                        <a:t>Work completed</a:t>
                      </a:r>
                      <a:endParaRPr lang="en-US" sz="14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r>
              <a:tr h="566928">
                <a:tc>
                  <a:txBody>
                    <a:bodyPr/>
                    <a:lstStyle/>
                    <a:p>
                      <a:pPr indent="0" marL="0">
                        <a:buNone/>
                      </a:pPr>
                      <a:r>
                        <a:rPr lang="en-US" sz="1300" b="1" dirty="0">
                          <a:solidFill>
                            <a:srgbClr val="1B2430"/>
                          </a:solidFill>
                        </a:rPr>
                        <a:t>Game engine</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b="1" dirty="0">
                          <a:solidFill>
                            <a:srgbClr val="1F7A4D"/>
                          </a:solidFill>
                        </a:rPr>
                        <a:t>Completed</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Classes, hash-map registry, room graph with BFS, clue DAG, undo stack</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430"/>
                          </a:solidFill>
                        </a:rPr>
                        <a:t>Validator and forensics</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b="1" dirty="0">
                          <a:solidFill>
                            <a:srgbClr val="1F7A4D"/>
                          </a:solidFill>
                        </a:rPr>
                        <a:t>Completed</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Solvability proof; body-cooling and Rf calculations</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430"/>
                          </a:solidFill>
                        </a:rPr>
                        <a:t>Cross-examination</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b="1" dirty="0">
                          <a:solidFill>
                            <a:srgbClr val="1F7A4D"/>
                          </a:solidFill>
                        </a:rPr>
                        <a:t>Completed</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15 statements, press and present evidence, credibility, accusation rule</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430"/>
                          </a:solidFill>
                        </a:rPr>
                        <a:t>Qt 2D interface</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b="1" dirty="0">
                          <a:solidFill>
                            <a:srgbClr val="1F7A4D"/>
                          </a:solidFill>
                        </a:rPr>
                        <a:t>Completed (prototype)</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Movement, collision, camera, animated characters, dossier, lab screens</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430"/>
                          </a:solidFill>
                        </a:rPr>
                        <a:t>Maps and art</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b="1" dirty="0">
                          <a:solidFill>
                            <a:srgbClr val="1F7A4D"/>
                          </a:solidFill>
                        </a:rPr>
                        <a:t>Completed</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7 rooms in Tiled format, tileset, character sprites, map checker</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430"/>
                          </a:solidFill>
                        </a:rPr>
                        <a:t>SQLite database</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b="1" dirty="0">
                          <a:solidFill>
                            <a:srgbClr val="B7791F"/>
                          </a:solidFill>
                        </a:rPr>
                        <a:t>In progress</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Initial work started; not yet integrated</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430"/>
                          </a:solidFill>
                        </a:rPr>
                        <a:t>Sound, menus, playtesting</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b="1" dirty="0">
                          <a:solidFill>
                            <a:srgbClr val="5C6B7A"/>
                          </a:solidFill>
                        </a:rPr>
                        <a:t>Pending</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Planned for Phase-III</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bl>
          </a:graphicData>
        </a:graphic>
      </p:graphicFrame>
      <p:sp>
        <p:nvSpPr>
          <p:cNvPr id="4" name="Completion card"/>
          <p:cNvSpPr/>
          <p:nvPr/>
        </p:nvSpPr>
        <p:spPr>
          <a:xfrm>
            <a:off x="9006840" y="1463040"/>
            <a:ext cx="2633472" cy="4572000"/>
          </a:xfrm>
          <a:prstGeom prst="roundRect">
            <a:avLst>
              <a:gd name="adj" fmla="val 4167"/>
            </a:avLst>
          </a:prstGeom>
          <a:solidFill>
            <a:schemeClr val="bg2"/>
          </a:solidFill>
          <a:ln w="12700">
            <a:solidFill>
              <a:schemeClr val="bg2"/>
            </a:solidFill>
            <a:prstDash val="solid"/>
          </a:ln>
        </p:spPr>
      </p:sp>
      <p:sp>
        <p:nvSpPr>
          <p:cNvPr id="5" name="Completion number"/>
          <p:cNvSpPr txBox="1"/>
          <p:nvPr/>
        </p:nvSpPr>
        <p:spPr>
          <a:xfrm>
            <a:off x="9006840" y="2011680"/>
            <a:ext cx="2633472" cy="1097280"/>
          </a:xfrm>
          <a:prstGeom prst="rect">
            <a:avLst/>
          </a:prstGeom>
          <a:noFill/>
          <a:ln/>
        </p:spPr>
        <p:txBody>
          <a:bodyPr wrap="square" lIns="0" tIns="0" rIns="0" bIns="0" rtlCol="0" anchor="ctr"/>
          <a:lstStyle/>
          <a:p>
            <a:pPr algn="ctr" indent="0" marL="0">
              <a:buNone/>
            </a:pPr>
            <a:r>
              <a:rPr lang="en-US" sz="6000" b="1" dirty="0">
                <a:solidFill>
                  <a:schemeClr val="tx2"/>
                </a:solidFill>
              </a:rPr>
              <a:t>~60%</a:t>
            </a:r>
            <a:endParaRPr lang="en-US" sz="6000" dirty="0"/>
          </a:p>
        </p:txBody>
      </p:sp>
      <p:sp>
        <p:nvSpPr>
          <p:cNvPr id="6" name="Text 3"/>
          <p:cNvSpPr txBox="1"/>
          <p:nvPr/>
        </p:nvSpPr>
        <p:spPr>
          <a:xfrm>
            <a:off x="9189720" y="3154680"/>
            <a:ext cx="2286000" cy="640080"/>
          </a:xfrm>
          <a:prstGeom prst="rect">
            <a:avLst/>
          </a:prstGeom>
          <a:noFill/>
          <a:ln/>
        </p:spPr>
        <p:txBody>
          <a:bodyPr wrap="square" lIns="0" tIns="0" rIns="0" bIns="0" rtlCol="0" anchor="ctr"/>
          <a:lstStyle/>
          <a:p>
            <a:pPr algn="ctr" indent="0" marL="0">
              <a:buNone/>
            </a:pPr>
            <a:r>
              <a:rPr lang="en-US" sz="1600" dirty="0">
                <a:solidFill>
                  <a:schemeClr val="tx1"/>
                </a:solidFill>
              </a:rPr>
              <a:t>Overall project completion</a:t>
            </a:r>
            <a:endParaRPr lang="en-US" sz="1600" dirty="0"/>
          </a:p>
        </p:txBody>
      </p:sp>
      <p:sp>
        <p:nvSpPr>
          <p:cNvPr id="7" name="Remaining work note"/>
          <p:cNvSpPr txBox="1"/>
          <p:nvPr/>
        </p:nvSpPr>
        <p:spPr>
          <a:xfrm>
            <a:off x="9189720" y="4023360"/>
            <a:ext cx="2286000" cy="1463040"/>
          </a:xfrm>
          <a:prstGeom prst="rect">
            <a:avLst/>
          </a:prstGeom>
          <a:noFill/>
          <a:ln/>
        </p:spPr>
        <p:txBody>
          <a:bodyPr wrap="square" lIns="0" tIns="0" rIns="0" bIns="0" rtlCol="0" anchor="t"/>
          <a:lstStyle/>
          <a:p>
            <a:pPr algn="ctr" indent="0" marL="0">
              <a:buNone/>
            </a:pPr>
            <a:r>
              <a:rPr lang="en-US" sz="1400" i="1" dirty="0">
                <a:solidFill>
                  <a:schemeClr val="accent5"/>
                </a:solidFill>
              </a:rPr>
              <a:t>Remaining: SQLite, deeper DSA work, playtesting, sound and menus</a:t>
            </a:r>
            <a:endParaRPr lang="en-US" sz="14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Working Prototype / Demonstration</a:t>
            </a:r>
            <a:endParaRPr lang="en-US" sz="3200" dirty="0"/>
          </a:p>
        </p:txBody>
      </p:sp>
      <p:sp>
        <p:nvSpPr>
          <p:cNvPr id="3" name="Heading: Implemented Features"/>
          <p:cNvSpPr txBox="1"/>
          <p:nvPr/>
        </p:nvSpPr>
        <p:spPr>
          <a:xfrm>
            <a:off x="548640" y="1417320"/>
            <a:ext cx="5486400" cy="411480"/>
          </a:xfrm>
          <a:prstGeom prst="rect">
            <a:avLst/>
          </a:prstGeom>
          <a:noFill/>
          <a:ln/>
        </p:spPr>
        <p:txBody>
          <a:bodyPr wrap="square" lIns="0" tIns="0" rIns="0" bIns="0" rtlCol="0" anchor="ctr"/>
          <a:lstStyle/>
          <a:p>
            <a:pPr indent="0" marL="0">
              <a:buNone/>
            </a:pPr>
            <a:r>
              <a:rPr lang="en-US" sz="2200" b="1" dirty="0">
                <a:solidFill>
                  <a:schemeClr val="tx2"/>
                </a:solidFill>
              </a:rPr>
              <a:t>Implemented Features</a:t>
            </a:r>
            <a:endParaRPr lang="en-US" sz="2200" dirty="0"/>
          </a:p>
        </p:txBody>
      </p:sp>
      <p:sp>
        <p:nvSpPr>
          <p:cNvPr id="4" name="Feature icon 1 circle"/>
          <p:cNvSpPr/>
          <p:nvPr/>
        </p:nvSpPr>
        <p:spPr>
          <a:xfrm>
            <a:off x="548640" y="1965960"/>
            <a:ext cx="548640" cy="548640"/>
          </a:xfrm>
          <a:prstGeom prst="ellipse">
            <a:avLst/>
          </a:prstGeom>
          <a:solidFill>
            <a:schemeClr val="tx2"/>
          </a:solidFill>
          <a:ln w="12700">
            <a:solidFill>
              <a:schemeClr val="tx2"/>
            </a:solidFill>
            <a:prstDash val="solid"/>
          </a:ln>
        </p:spPr>
      </p:sp>
      <p:pic>
        <p:nvPicPr>
          <p:cNvPr id="5" name="Feature icon 1" descr="Feature icon 1">    </p:cNvPr>
          <p:cNvPicPr>
            <a:picLocks noChangeAspect="1"/>
          </p:cNvPicPr>
          <p:nvPr/>
        </p:nvPicPr>
        <p:blipFill>
          <a:blip r:embed="rId1"/>
          <a:stretch>
            <a:fillRect/>
          </a:stretch>
        </p:blipFill>
        <p:spPr>
          <a:xfrm>
            <a:off x="680314" y="2097634"/>
            <a:ext cx="285293" cy="285293"/>
          </a:xfrm>
          <a:prstGeom prst="rect">
            <a:avLst/>
          </a:prstGeom>
        </p:spPr>
      </p:pic>
      <p:sp>
        <p:nvSpPr>
          <p:cNvPr id="6" name="Feature 1"/>
          <p:cNvSpPr txBox="1"/>
          <p:nvPr/>
        </p:nvSpPr>
        <p:spPr>
          <a:xfrm>
            <a:off x="1280160" y="1920240"/>
            <a:ext cx="3291840" cy="640080"/>
          </a:xfrm>
          <a:prstGeom prst="rect">
            <a:avLst/>
          </a:prstGeom>
          <a:noFill/>
          <a:ln/>
        </p:spPr>
        <p:txBody>
          <a:bodyPr wrap="square" lIns="0" tIns="0" rIns="0" bIns="0" rtlCol="0" anchor="ctr"/>
          <a:lstStyle/>
          <a:p>
            <a:pPr indent="0" marL="0">
              <a:buNone/>
            </a:pPr>
            <a:r>
              <a:rPr lang="en-US" sz="1500" dirty="0">
                <a:solidFill>
                  <a:schemeClr val="tx1"/>
                </a:solidFill>
              </a:rPr>
              <a:t>7 rooms; locked doors open with clues (graph + BFS)</a:t>
            </a:r>
            <a:endParaRPr lang="en-US" sz="1500" dirty="0"/>
          </a:p>
        </p:txBody>
      </p:sp>
      <p:sp>
        <p:nvSpPr>
          <p:cNvPr id="7" name="Feature icon 2 circle"/>
          <p:cNvSpPr/>
          <p:nvPr/>
        </p:nvSpPr>
        <p:spPr>
          <a:xfrm>
            <a:off x="548640" y="2788920"/>
            <a:ext cx="548640" cy="548640"/>
          </a:xfrm>
          <a:prstGeom prst="ellipse">
            <a:avLst/>
          </a:prstGeom>
          <a:solidFill>
            <a:schemeClr val="tx2"/>
          </a:solidFill>
          <a:ln w="12700">
            <a:solidFill>
              <a:schemeClr val="tx2"/>
            </a:solidFill>
            <a:prstDash val="solid"/>
          </a:ln>
        </p:spPr>
      </p:sp>
      <p:pic>
        <p:nvPicPr>
          <p:cNvPr id="8" name="Feature icon 2" descr="Feature icon 2">    </p:cNvPr>
          <p:cNvPicPr>
            <a:picLocks noChangeAspect="1"/>
          </p:cNvPicPr>
          <p:nvPr/>
        </p:nvPicPr>
        <p:blipFill>
          <a:blip r:embed="rId2"/>
          <a:stretch>
            <a:fillRect/>
          </a:stretch>
        </p:blipFill>
        <p:spPr>
          <a:xfrm>
            <a:off x="680314" y="2920594"/>
            <a:ext cx="285293" cy="285293"/>
          </a:xfrm>
          <a:prstGeom prst="rect">
            <a:avLst/>
          </a:prstGeom>
        </p:spPr>
      </p:pic>
      <p:sp>
        <p:nvSpPr>
          <p:cNvPr id="9" name="Feature 2"/>
          <p:cNvSpPr txBox="1"/>
          <p:nvPr/>
        </p:nvSpPr>
        <p:spPr>
          <a:xfrm>
            <a:off x="1280160" y="2743200"/>
            <a:ext cx="3291840" cy="640080"/>
          </a:xfrm>
          <a:prstGeom prst="rect">
            <a:avLst/>
          </a:prstGeom>
          <a:noFill/>
          <a:ln/>
        </p:spPr>
        <p:txBody>
          <a:bodyPr wrap="square" lIns="0" tIns="0" rIns="0" bIns="0" rtlCol="0" anchor="ctr"/>
          <a:lstStyle/>
          <a:p>
            <a:pPr indent="0" marL="0">
              <a:buNone/>
            </a:pPr>
            <a:r>
              <a:rPr lang="en-US" sz="1500" dirty="0">
                <a:solidFill>
                  <a:schemeClr val="tx1"/>
                </a:solidFill>
              </a:rPr>
              <a:t>Clues unlock in a fixed order (DAG + topological sort)</a:t>
            </a:r>
            <a:endParaRPr lang="en-US" sz="1500" dirty="0"/>
          </a:p>
        </p:txBody>
      </p:sp>
      <p:sp>
        <p:nvSpPr>
          <p:cNvPr id="10" name="Feature icon 3 circle"/>
          <p:cNvSpPr/>
          <p:nvPr/>
        </p:nvSpPr>
        <p:spPr>
          <a:xfrm>
            <a:off x="548640" y="3611880"/>
            <a:ext cx="548640" cy="548640"/>
          </a:xfrm>
          <a:prstGeom prst="ellipse">
            <a:avLst/>
          </a:prstGeom>
          <a:solidFill>
            <a:schemeClr val="tx2"/>
          </a:solidFill>
          <a:ln w="12700">
            <a:solidFill>
              <a:schemeClr val="tx2"/>
            </a:solidFill>
            <a:prstDash val="solid"/>
          </a:ln>
        </p:spPr>
      </p:sp>
      <p:pic>
        <p:nvPicPr>
          <p:cNvPr id="11" name="Feature icon 3" descr="Feature icon 3">    </p:cNvPr>
          <p:cNvPicPr>
            <a:picLocks noChangeAspect="1"/>
          </p:cNvPicPr>
          <p:nvPr/>
        </p:nvPicPr>
        <p:blipFill>
          <a:blip r:embed="rId3"/>
          <a:stretch>
            <a:fillRect/>
          </a:stretch>
        </p:blipFill>
        <p:spPr>
          <a:xfrm>
            <a:off x="680314" y="3743554"/>
            <a:ext cx="285293" cy="285293"/>
          </a:xfrm>
          <a:prstGeom prst="rect">
            <a:avLst/>
          </a:prstGeom>
        </p:spPr>
      </p:pic>
      <p:sp>
        <p:nvSpPr>
          <p:cNvPr id="12" name="Feature 3"/>
          <p:cNvSpPr txBox="1"/>
          <p:nvPr/>
        </p:nvSpPr>
        <p:spPr>
          <a:xfrm>
            <a:off x="1280160" y="3566160"/>
            <a:ext cx="3291840" cy="640080"/>
          </a:xfrm>
          <a:prstGeom prst="rect">
            <a:avLst/>
          </a:prstGeom>
          <a:noFill/>
          <a:ln/>
        </p:spPr>
        <p:txBody>
          <a:bodyPr wrap="square" lIns="0" tIns="0" rIns="0" bIns="0" rtlCol="0" anchor="ctr"/>
          <a:lstStyle/>
          <a:p>
            <a:pPr indent="0" marL="0">
              <a:buNone/>
            </a:pPr>
            <a:r>
              <a:rPr lang="en-US" sz="1500" dirty="0">
                <a:solidFill>
                  <a:schemeClr val="tx1"/>
                </a:solidFill>
              </a:rPr>
              <a:t>Instant lookup of clues, rooms and people (hash tables)</a:t>
            </a:r>
            <a:endParaRPr lang="en-US" sz="1500" dirty="0"/>
          </a:p>
        </p:txBody>
      </p:sp>
      <p:sp>
        <p:nvSpPr>
          <p:cNvPr id="13" name="Feature icon 4 circle"/>
          <p:cNvSpPr/>
          <p:nvPr/>
        </p:nvSpPr>
        <p:spPr>
          <a:xfrm>
            <a:off x="548640" y="4434840"/>
            <a:ext cx="548640" cy="548640"/>
          </a:xfrm>
          <a:prstGeom prst="ellipse">
            <a:avLst/>
          </a:prstGeom>
          <a:solidFill>
            <a:schemeClr val="tx2"/>
          </a:solidFill>
          <a:ln w="12700">
            <a:solidFill>
              <a:schemeClr val="tx2"/>
            </a:solidFill>
            <a:prstDash val="solid"/>
          </a:ln>
        </p:spPr>
      </p:sp>
      <p:pic>
        <p:nvPicPr>
          <p:cNvPr id="14" name="Feature icon 4" descr="Feature icon 4">    </p:cNvPr>
          <p:cNvPicPr>
            <a:picLocks noChangeAspect="1"/>
          </p:cNvPicPr>
          <p:nvPr/>
        </p:nvPicPr>
        <p:blipFill>
          <a:blip r:embed="rId4"/>
          <a:stretch>
            <a:fillRect/>
          </a:stretch>
        </p:blipFill>
        <p:spPr>
          <a:xfrm>
            <a:off x="680314" y="4566514"/>
            <a:ext cx="285293" cy="285293"/>
          </a:xfrm>
          <a:prstGeom prst="rect">
            <a:avLst/>
          </a:prstGeom>
        </p:spPr>
      </p:pic>
      <p:sp>
        <p:nvSpPr>
          <p:cNvPr id="15" name="Feature 4"/>
          <p:cNvSpPr txBox="1"/>
          <p:nvPr/>
        </p:nvSpPr>
        <p:spPr>
          <a:xfrm>
            <a:off x="1280160" y="4389120"/>
            <a:ext cx="3291840" cy="640080"/>
          </a:xfrm>
          <a:prstGeom prst="rect">
            <a:avLst/>
          </a:prstGeom>
          <a:noFill/>
          <a:ln/>
        </p:spPr>
        <p:txBody>
          <a:bodyPr wrap="square" lIns="0" tIns="0" rIns="0" bIns="0" rtlCol="0" anchor="ctr"/>
          <a:lstStyle/>
          <a:p>
            <a:pPr indent="0" marL="0">
              <a:buNone/>
            </a:pPr>
            <a:r>
              <a:rPr lang="en-US" sz="1500" dirty="0">
                <a:solidFill>
                  <a:schemeClr val="tx1"/>
                </a:solidFill>
              </a:rPr>
              <a:t>Cross-examine six people with evidence; undo history (stack)</a:t>
            </a:r>
            <a:endParaRPr lang="en-US" sz="1500" dirty="0"/>
          </a:p>
        </p:txBody>
      </p:sp>
      <p:sp>
        <p:nvSpPr>
          <p:cNvPr id="16" name="Feature icon 5 circle"/>
          <p:cNvSpPr/>
          <p:nvPr/>
        </p:nvSpPr>
        <p:spPr>
          <a:xfrm>
            <a:off x="548640" y="5257800"/>
            <a:ext cx="548640" cy="548640"/>
          </a:xfrm>
          <a:prstGeom prst="ellipse">
            <a:avLst/>
          </a:prstGeom>
          <a:solidFill>
            <a:schemeClr val="tx2"/>
          </a:solidFill>
          <a:ln w="12700">
            <a:solidFill>
              <a:schemeClr val="tx2"/>
            </a:solidFill>
            <a:prstDash val="solid"/>
          </a:ln>
        </p:spPr>
      </p:sp>
      <p:pic>
        <p:nvPicPr>
          <p:cNvPr id="17" name="Feature icon 5" descr="Feature icon 5">    </p:cNvPr>
          <p:cNvPicPr>
            <a:picLocks noChangeAspect="1"/>
          </p:cNvPicPr>
          <p:nvPr/>
        </p:nvPicPr>
        <p:blipFill>
          <a:blip r:embed="rId5"/>
          <a:stretch>
            <a:fillRect/>
          </a:stretch>
        </p:blipFill>
        <p:spPr>
          <a:xfrm>
            <a:off x="680314" y="5389474"/>
            <a:ext cx="285293" cy="285293"/>
          </a:xfrm>
          <a:prstGeom prst="rect">
            <a:avLst/>
          </a:prstGeom>
        </p:spPr>
      </p:pic>
      <p:sp>
        <p:nvSpPr>
          <p:cNvPr id="18" name="Feature 5"/>
          <p:cNvSpPr txBox="1"/>
          <p:nvPr/>
        </p:nvSpPr>
        <p:spPr>
          <a:xfrm>
            <a:off x="1280160" y="5212080"/>
            <a:ext cx="3291840" cy="640080"/>
          </a:xfrm>
          <a:prstGeom prst="rect">
            <a:avLst/>
          </a:prstGeom>
          <a:noFill/>
          <a:ln/>
        </p:spPr>
        <p:txBody>
          <a:bodyPr wrap="square" lIns="0" tIns="0" rIns="0" bIns="0" rtlCol="0" anchor="ctr"/>
          <a:lstStyle/>
          <a:p>
            <a:pPr indent="0" marL="0">
              <a:buNone/>
            </a:pPr>
            <a:r>
              <a:rPr lang="en-US" sz="1500" dirty="0">
                <a:solidFill>
                  <a:schemeClr val="tx1"/>
                </a:solidFill>
              </a:rPr>
              <a:t>Forensic puzzles: body cooling and ink chromatography</a:t>
            </a:r>
            <a:endParaRPr lang="en-US" sz="1500" dirty="0"/>
          </a:p>
        </p:txBody>
      </p:sp>
      <p:sp>
        <p:nvSpPr>
          <p:cNvPr id="19" name="Prototype card"/>
          <p:cNvSpPr/>
          <p:nvPr/>
        </p:nvSpPr>
        <p:spPr>
          <a:xfrm>
            <a:off x="4846320" y="1463040"/>
            <a:ext cx="6793992" cy="4572000"/>
          </a:xfrm>
          <a:prstGeom prst="roundRect">
            <a:avLst>
              <a:gd name="adj" fmla="val 2400"/>
            </a:avLst>
          </a:prstGeom>
          <a:solidFill>
            <a:schemeClr val="bg2"/>
          </a:solidFill>
          <a:ln w="12700">
            <a:solidFill>
              <a:schemeClr val="bg2"/>
            </a:solidFill>
            <a:prstDash val="solid"/>
          </a:ln>
        </p:spPr>
      </p:sp>
      <p:sp>
        <p:nvSpPr>
          <p:cNvPr id="20" name="Text 13"/>
          <p:cNvSpPr txBox="1"/>
          <p:nvPr/>
        </p:nvSpPr>
        <p:spPr>
          <a:xfrm>
            <a:off x="5074920" y="1554480"/>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Prototype / Output</a:t>
            </a:r>
            <a:endParaRPr lang="en-US" sz="1800" dirty="0"/>
          </a:p>
        </p:txBody>
      </p:sp>
      <p:pic>
        <p:nvPicPr>
          <p:cNvPr id="21" name="Hall room render" descr="The grand hall of the game with characters, rendered from our map files">    </p:cNvPr>
          <p:cNvPicPr>
            <a:picLocks noChangeAspect="1"/>
          </p:cNvPicPr>
          <p:nvPr/>
        </p:nvPicPr>
        <p:blipFill>
          <a:blip r:embed="rId6"/>
          <a:stretch>
            <a:fillRect/>
          </a:stretch>
        </p:blipFill>
        <p:spPr>
          <a:xfrm>
            <a:off x="5074920" y="2057400"/>
            <a:ext cx="3108960" cy="2331720"/>
          </a:xfrm>
          <a:prstGeom prst="rect">
            <a:avLst/>
          </a:prstGeom>
        </p:spPr>
      </p:pic>
      <p:pic>
        <p:nvPicPr>
          <p:cNvPr id="22" name="Library room render" descr="The library of the game, rendered from our map files">    </p:cNvPr>
          <p:cNvPicPr>
            <a:picLocks noChangeAspect="1"/>
          </p:cNvPicPr>
          <p:nvPr/>
        </p:nvPicPr>
        <p:blipFill>
          <a:blip r:embed="rId7"/>
          <a:stretch>
            <a:fillRect/>
          </a:stretch>
        </p:blipFill>
        <p:spPr>
          <a:xfrm>
            <a:off x="8321040" y="2057400"/>
            <a:ext cx="3108960" cy="2331720"/>
          </a:xfrm>
          <a:prstGeom prst="rect">
            <a:avLst/>
          </a:prstGeom>
        </p:spPr>
      </p:pic>
      <p:sp>
        <p:nvSpPr>
          <p:cNvPr id="23" name="Image caption"/>
          <p:cNvSpPr txBox="1"/>
          <p:nvPr/>
        </p:nvSpPr>
        <p:spPr>
          <a:xfrm>
            <a:off x="5074920" y="4526280"/>
            <a:ext cx="6355080" cy="411480"/>
          </a:xfrm>
          <a:prstGeom prst="rect">
            <a:avLst/>
          </a:prstGeom>
          <a:noFill/>
          <a:ln/>
        </p:spPr>
        <p:txBody>
          <a:bodyPr wrap="square" lIns="0" tIns="0" rIns="0" bIns="0" rtlCol="0" anchor="ctr"/>
          <a:lstStyle/>
          <a:p>
            <a:pPr indent="0" marL="0">
              <a:buNone/>
            </a:pPr>
            <a:r>
              <a:rPr lang="en-US" sz="1300" i="1" dirty="0">
                <a:solidFill>
                  <a:schemeClr val="accent5"/>
                </a:solidFill>
              </a:rPr>
              <a:t>The hall and the library, rendered from our map files. A live demonstration follows.</a:t>
            </a:r>
            <a:endParaRPr lang="en-US" sz="1300" dirty="0"/>
          </a:p>
        </p:txBody>
      </p:sp>
      <p:sp>
        <p:nvSpPr>
          <p:cNvPr id="24" name="Demo path"/>
          <p:cNvSpPr txBox="1"/>
          <p:nvPr/>
        </p:nvSpPr>
        <p:spPr>
          <a:xfrm>
            <a:off x="5074920" y="5074920"/>
            <a:ext cx="6355080" cy="731520"/>
          </a:xfrm>
          <a:prstGeom prst="rect">
            <a:avLst/>
          </a:prstGeom>
          <a:noFill/>
          <a:ln/>
        </p:spPr>
        <p:txBody>
          <a:bodyPr wrap="square" lIns="0" tIns="0" rIns="0" bIns="0" rtlCol="0" anchor="t"/>
          <a:lstStyle/>
          <a:p>
            <a:pPr indent="0" marL="0">
              <a:buNone/>
            </a:pPr>
            <a:r>
              <a:rPr lang="en-US" sz="1400" b="1" dirty="0">
                <a:solidFill>
                  <a:schemeClr val="tx2"/>
                </a:solidFill>
              </a:rPr>
              <a:t>Demo path: Dr. Reddy → forensic lab → cross-examine Rohit → hidden passage → accuse</a:t>
            </a:r>
            <a:endParaRPr lang="en-US" sz="14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Testing, Results &amp; Validation</a:t>
            </a:r>
            <a:endParaRPr lang="en-US" sz="3200" dirty="0"/>
          </a:p>
        </p:txBody>
      </p:sp>
      <p:graphicFrame>
        <p:nvGraphicFramePr>
          <p:cNvPr id="12" name="Testing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377440"/>
                <a:gridCol w="3931920"/>
                <a:gridCol w="3566160"/>
                <a:gridCol w="1216152"/>
              </a:tblGrid>
              <a:tr h="411480">
                <a:tc>
                  <a:txBody>
                    <a:bodyPr/>
                    <a:lstStyle/>
                    <a:p>
                      <a:pPr indent="0" marL="0">
                        <a:buNone/>
                      </a:pPr>
                      <a:r>
                        <a:rPr lang="en-US" sz="1400" b="1" dirty="0">
                          <a:solidFill>
                            <a:srgbClr val="FFFFFF"/>
                          </a:solidFill>
                        </a:rPr>
                        <a:t>Test / Module</a:t>
                      </a:r>
                      <a:endParaRPr lang="en-US" sz="14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c>
                  <a:txBody>
                    <a:bodyPr/>
                    <a:lstStyle/>
                    <a:p>
                      <a:pPr indent="0" marL="0">
                        <a:buNone/>
                      </a:pPr>
                      <a:r>
                        <a:rPr lang="en-US" sz="1400" b="1" dirty="0">
                          <a:solidFill>
                            <a:srgbClr val="FFFFFF"/>
                          </a:solidFill>
                        </a:rPr>
                        <a:t>Expected result</a:t>
                      </a:r>
                      <a:endParaRPr lang="en-US" sz="14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c>
                  <a:txBody>
                    <a:bodyPr/>
                    <a:lstStyle/>
                    <a:p>
                      <a:pPr indent="0" marL="0">
                        <a:buNone/>
                      </a:pPr>
                      <a:r>
                        <a:rPr lang="en-US" sz="1400" b="1" dirty="0">
                          <a:solidFill>
                            <a:srgbClr val="FFFFFF"/>
                          </a:solidFill>
                        </a:rPr>
                        <a:t>Observed result</a:t>
                      </a:r>
                      <a:endParaRPr lang="en-US" sz="14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c>
                  <a:txBody>
                    <a:bodyPr/>
                    <a:lstStyle/>
                    <a:p>
                      <a:pPr algn="ctr" indent="0" marL="0">
                        <a:buNone/>
                      </a:pPr>
                      <a:r>
                        <a:rPr lang="en-US" sz="1400" b="1" dirty="0">
                          <a:solidFill>
                            <a:srgbClr val="FFFFFF"/>
                          </a:solidFill>
                        </a:rPr>
                        <a:t>Status</a:t>
                      </a:r>
                      <a:endParaRPr lang="en-US" sz="14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r>
              <a:tr h="502920">
                <a:tc>
                  <a:txBody>
                    <a:bodyPr/>
                    <a:lstStyle/>
                    <a:p>
                      <a:pPr indent="0" marL="0">
                        <a:buNone/>
                      </a:pPr>
                      <a:r>
                        <a:rPr lang="en-US" sz="1300" b="1" dirty="0">
                          <a:solidFill>
                            <a:srgbClr val="1B2430"/>
                          </a:solidFill>
                        </a:rPr>
                        <a:t>Engine unit tests</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Locks, undo and accusation rules behave correctly</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All tests passed</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7A4D"/>
                          </a:solidFill>
                        </a:rPr>
                        <a:t>Pass</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B2430"/>
                          </a:solidFill>
                        </a:rPr>
                        <a:t>Case validator</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Every clue reachable; one provable culprit; broken cases rejected</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Solvable with exactly one culprit; bad cases rejected</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7A4D"/>
                          </a:solidFill>
                        </a:rPr>
                        <a:t>Pass</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B2430"/>
                          </a:solidFill>
                        </a:rPr>
                        <a:t>Cross-examination</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Right evidence exposes a lie; wrong evidence costs credibility</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Scripted playthrough solves the case</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7A4D"/>
                          </a:solidFill>
                        </a:rPr>
                        <a:t>Pass</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430"/>
                          </a:solidFill>
                        </a:rPr>
                        <a:t>Forensic maths</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Death at 23:15; ink matches Rf 0.71</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23:15 computed; pen 3 (Rf 0.71) matched</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7A4D"/>
                          </a:solidFill>
                        </a:rPr>
                        <a:t>Pass</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430"/>
                          </a:solidFill>
                        </a:rPr>
                        <a:t>Map checks and walking</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Every door, clue and person reachable in all 7 rooms</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All 7 rooms pass</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7A4D"/>
                          </a:solidFill>
                        </a:rPr>
                        <a:t>Pass</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430"/>
                          </a:solidFill>
                        </a:rPr>
                        <a:t>Outside playtesting</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Players can finish and enjoy the case</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Not yet run</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5C6B7A"/>
                          </a:solidFill>
                        </a:rPr>
                        <a:t>Pending</a:t>
                      </a:r>
                      <a:endParaRPr lang="en-US" sz="1300" dirty="0"/>
                    </a:p>
                  </a:txBody>
                  <a:tcPr marL="91440" marR="91440" marT="45720" marB="45720"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bl>
          </a:graphicData>
        </a:graphic>
      </p:graphicFrame>
      <p:sp>
        <p:nvSpPr>
          <p:cNvPr id="4" name="Results card"/>
          <p:cNvSpPr/>
          <p:nvPr/>
        </p:nvSpPr>
        <p:spPr>
          <a:xfrm>
            <a:off x="548640" y="5212080"/>
            <a:ext cx="11091672" cy="1097280"/>
          </a:xfrm>
          <a:prstGeom prst="roundRect">
            <a:avLst>
              <a:gd name="adj" fmla="val 10000"/>
            </a:avLst>
          </a:prstGeom>
          <a:solidFill>
            <a:schemeClr val="bg2"/>
          </a:solidFill>
          <a:ln w="12700">
            <a:solidFill>
              <a:schemeClr val="bg2"/>
            </a:solidFill>
            <a:prstDash val="solid"/>
          </a:ln>
        </p:spPr>
      </p:sp>
      <p:sp>
        <p:nvSpPr>
          <p:cNvPr id="5" name="Heading: Results / Validation"/>
          <p:cNvSpPr txBox="1"/>
          <p:nvPr/>
        </p:nvSpPr>
        <p:spPr>
          <a:xfrm>
            <a:off x="777240" y="5285232"/>
            <a:ext cx="4572000" cy="411480"/>
          </a:xfrm>
          <a:prstGeom prst="rect">
            <a:avLst/>
          </a:prstGeom>
          <a:noFill/>
          <a:ln/>
        </p:spPr>
        <p:txBody>
          <a:bodyPr wrap="square" lIns="0" tIns="0" rIns="0" bIns="0" rtlCol="0" anchor="ctr"/>
          <a:lstStyle/>
          <a:p>
            <a:pPr indent="0" marL="0">
              <a:buNone/>
            </a:pPr>
            <a:r>
              <a:rPr lang="en-US" sz="1800" b="1" dirty="0">
                <a:solidFill>
                  <a:schemeClr val="tx2"/>
                </a:solidFill>
              </a:rPr>
              <a:t>Results / Validation</a:t>
            </a:r>
            <a:endParaRPr lang="en-US" sz="1800" dirty="0"/>
          </a:p>
        </p:txBody>
      </p:sp>
      <p:sp>
        <p:nvSpPr>
          <p:cNvPr id="6" name="Results text"/>
          <p:cNvSpPr txBox="1"/>
          <p:nvPr/>
        </p:nvSpPr>
        <p:spPr>
          <a:xfrm>
            <a:off x="777240" y="5669280"/>
            <a:ext cx="10607040" cy="548640"/>
          </a:xfrm>
          <a:prstGeom prst="rect">
            <a:avLst/>
          </a:prstGeom>
          <a:noFill/>
          <a:ln/>
        </p:spPr>
        <p:txBody>
          <a:bodyPr wrap="square" lIns="0" tIns="0" rIns="0" bIns="0" rtlCol="0" anchor="t"/>
          <a:lstStyle/>
          <a:p>
            <a:pPr indent="0" marL="0">
              <a:buNone/>
            </a:pPr>
            <a:r>
              <a:rPr lang="en-US" sz="1400" dirty="0">
                <a:solidFill>
                  <a:schemeClr val="tx1"/>
                </a:solidFill>
              </a:rPr>
              <a:t>140+ automated checks with no failures. Solvability is proven by the validator, not assumed. Outside user testing (completion rate, time to solve) is planned for Phase-III.</a:t>
            </a:r>
            <a:endParaRPr lang="en-US" sz="14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GitHub Repository &amp; Development Activity</a:t>
            </a:r>
            <a:endParaRPr lang="en-US" sz="3200" dirty="0"/>
          </a:p>
        </p:txBody>
      </p:sp>
      <p:sp>
        <p:nvSpPr>
          <p:cNvPr id="3" name="Repository card"/>
          <p:cNvSpPr/>
          <p:nvPr/>
        </p:nvSpPr>
        <p:spPr>
          <a:xfrm>
            <a:off x="548640" y="1508760"/>
            <a:ext cx="5486400" cy="4114800"/>
          </a:xfrm>
          <a:prstGeom prst="roundRect">
            <a:avLst>
              <a:gd name="adj" fmla="val 2667"/>
            </a:avLst>
          </a:prstGeom>
          <a:solidFill>
            <a:schemeClr val="bg2"/>
          </a:solidFill>
          <a:ln w="12700">
            <a:solidFill>
              <a:schemeClr val="bg2"/>
            </a:solidFill>
            <a:prstDash val="solid"/>
          </a:ln>
        </p:spPr>
      </p:sp>
      <p:sp>
        <p:nvSpPr>
          <p:cNvPr id="4" name="Heading: Repository Information"/>
          <p:cNvSpPr txBox="1"/>
          <p:nvPr/>
        </p:nvSpPr>
        <p:spPr>
          <a:xfrm>
            <a:off x="777240" y="1645920"/>
            <a:ext cx="5029200" cy="411480"/>
          </a:xfrm>
          <a:prstGeom prst="rect">
            <a:avLst/>
          </a:prstGeom>
          <a:noFill/>
          <a:ln/>
        </p:spPr>
        <p:txBody>
          <a:bodyPr wrap="square" lIns="0" tIns="0" rIns="0" bIns="0" rtlCol="0" anchor="ctr"/>
          <a:lstStyle/>
          <a:p>
            <a:pPr indent="0" marL="0">
              <a:buNone/>
            </a:pPr>
            <a:r>
              <a:rPr lang="en-US" sz="2000" b="1" dirty="0">
                <a:solidFill>
                  <a:schemeClr val="tx2"/>
                </a:solidFill>
              </a:rPr>
              <a:t>Repository Information</a:t>
            </a:r>
            <a:endParaRPr lang="en-US" sz="2000" dirty="0"/>
          </a:p>
        </p:txBody>
      </p:sp>
      <p:sp>
        <p:nvSpPr>
          <p:cNvPr id="5" name="Bullet: GitHub Link:"/>
          <p:cNvSpPr/>
          <p:nvPr/>
        </p:nvSpPr>
        <p:spPr>
          <a:xfrm rot="5400000">
            <a:off x="777240" y="2468880"/>
            <a:ext cx="182880" cy="164592"/>
          </a:xfrm>
          <a:prstGeom prst="triangle">
            <a:avLst/>
          </a:prstGeom>
          <a:solidFill>
            <a:schemeClr val="tx2"/>
          </a:solidFill>
          <a:ln w="12700">
            <a:solidFill>
              <a:schemeClr val="tx2"/>
            </a:solidFill>
            <a:prstDash val="solid"/>
          </a:ln>
        </p:spPr>
      </p:sp>
      <p:sp>
        <p:nvSpPr>
          <p:cNvPr id="6" name="Label: GitHub Link:"/>
          <p:cNvSpPr txBox="1"/>
          <p:nvPr/>
        </p:nvSpPr>
        <p:spPr>
          <a:xfrm>
            <a:off x="1088136" y="2194560"/>
            <a:ext cx="1463040" cy="731520"/>
          </a:xfrm>
          <a:prstGeom prst="rect">
            <a:avLst/>
          </a:prstGeom>
          <a:noFill/>
          <a:ln/>
        </p:spPr>
        <p:txBody>
          <a:bodyPr wrap="square" lIns="0" tIns="0" rIns="0" bIns="0" rtlCol="0" anchor="ctr"/>
          <a:lstStyle/>
          <a:p>
            <a:pPr indent="0" marL="0">
              <a:buNone/>
            </a:pPr>
            <a:r>
              <a:rPr lang="en-US" sz="1500" b="1" dirty="0">
                <a:solidFill>
                  <a:schemeClr val="tx1"/>
                </a:solidFill>
              </a:rPr>
              <a:t>GitHub Link:</a:t>
            </a:r>
            <a:endParaRPr lang="en-US" sz="1500" dirty="0"/>
          </a:p>
        </p:txBody>
      </p:sp>
      <p:sp>
        <p:nvSpPr>
          <p:cNvPr id="7" name="Value: GitHub Link:"/>
          <p:cNvSpPr txBox="1"/>
          <p:nvPr/>
        </p:nvSpPr>
        <p:spPr>
          <a:xfrm>
            <a:off x="2642616" y="2194560"/>
            <a:ext cx="3017520" cy="731520"/>
          </a:xfrm>
          <a:prstGeom prst="rect">
            <a:avLst/>
          </a:prstGeom>
          <a:noFill/>
          <a:ln/>
        </p:spPr>
        <p:txBody>
          <a:bodyPr wrap="square" lIns="0" tIns="0" rIns="0" bIns="0" rtlCol="0" anchor="ctr"/>
          <a:lstStyle/>
          <a:p>
            <a:pPr indent="0" marL="0">
              <a:buNone/>
            </a:pPr>
            <a:r>
              <a:rPr lang="en-US" sz="1500" dirty="0">
                <a:solidFill>
                  <a:schemeClr val="tx1"/>
                </a:solidFill>
              </a:rPr>
              <a:t>github.com/AshutoshBahuguna206/PBL-Sem3-DSCPP</a:t>
            </a:r>
            <a:endParaRPr lang="en-US" sz="1500" dirty="0"/>
          </a:p>
        </p:txBody>
      </p:sp>
      <p:sp>
        <p:nvSpPr>
          <p:cNvPr id="8" name="Bullet: README.md:"/>
          <p:cNvSpPr/>
          <p:nvPr/>
        </p:nvSpPr>
        <p:spPr>
          <a:xfrm rot="5400000">
            <a:off x="777240" y="3195828"/>
            <a:ext cx="182880" cy="164592"/>
          </a:xfrm>
          <a:prstGeom prst="triangle">
            <a:avLst/>
          </a:prstGeom>
          <a:solidFill>
            <a:schemeClr val="tx2"/>
          </a:solidFill>
          <a:ln w="12700">
            <a:solidFill>
              <a:schemeClr val="tx2"/>
            </a:solidFill>
            <a:prstDash val="solid"/>
          </a:ln>
        </p:spPr>
      </p:sp>
      <p:sp>
        <p:nvSpPr>
          <p:cNvPr id="9" name="Label: README.md:"/>
          <p:cNvSpPr txBox="1"/>
          <p:nvPr/>
        </p:nvSpPr>
        <p:spPr>
          <a:xfrm>
            <a:off x="1088136" y="3035808"/>
            <a:ext cx="1463040" cy="502920"/>
          </a:xfrm>
          <a:prstGeom prst="rect">
            <a:avLst/>
          </a:prstGeom>
          <a:noFill/>
          <a:ln/>
        </p:spPr>
        <p:txBody>
          <a:bodyPr wrap="square" lIns="0" tIns="0" rIns="0" bIns="0" rtlCol="0" anchor="ctr"/>
          <a:lstStyle/>
          <a:p>
            <a:pPr indent="0" marL="0">
              <a:buNone/>
            </a:pPr>
            <a:r>
              <a:rPr lang="en-US" sz="1500" b="1" dirty="0">
                <a:solidFill>
                  <a:schemeClr val="tx1"/>
                </a:solidFill>
              </a:rPr>
              <a:t>README.md:</a:t>
            </a:r>
            <a:endParaRPr lang="en-US" sz="1500" dirty="0"/>
          </a:p>
        </p:txBody>
      </p:sp>
      <p:sp>
        <p:nvSpPr>
          <p:cNvPr id="10" name="Value: README.md:"/>
          <p:cNvSpPr txBox="1"/>
          <p:nvPr/>
        </p:nvSpPr>
        <p:spPr>
          <a:xfrm>
            <a:off x="2642616" y="3035808"/>
            <a:ext cx="3017520" cy="502920"/>
          </a:xfrm>
          <a:prstGeom prst="rect">
            <a:avLst/>
          </a:prstGeom>
          <a:noFill/>
          <a:ln/>
        </p:spPr>
        <p:txBody>
          <a:bodyPr wrap="square" lIns="0" tIns="0" rIns="0" bIns="0" rtlCol="0" anchor="ctr"/>
          <a:lstStyle/>
          <a:p>
            <a:pPr indent="0" marL="0">
              <a:buNone/>
            </a:pPr>
            <a:r>
              <a:rPr lang="en-US" sz="1500" b="1" i="1" dirty="0">
                <a:solidFill>
                  <a:schemeClr val="accent2"/>
                </a:solidFill>
              </a:rPr>
              <a:t>[Updated? yes / no]</a:t>
            </a:r>
            <a:endParaRPr lang="en-US" sz="1500" dirty="0"/>
          </a:p>
        </p:txBody>
      </p:sp>
      <p:sp>
        <p:nvSpPr>
          <p:cNvPr id="11" name="Bullet: Contributors:"/>
          <p:cNvSpPr/>
          <p:nvPr/>
        </p:nvSpPr>
        <p:spPr>
          <a:xfrm rot="5400000">
            <a:off x="777240" y="3808476"/>
            <a:ext cx="182880" cy="164592"/>
          </a:xfrm>
          <a:prstGeom prst="triangle">
            <a:avLst/>
          </a:prstGeom>
          <a:solidFill>
            <a:schemeClr val="tx2"/>
          </a:solidFill>
          <a:ln w="12700">
            <a:solidFill>
              <a:schemeClr val="tx2"/>
            </a:solidFill>
            <a:prstDash val="solid"/>
          </a:ln>
        </p:spPr>
      </p:sp>
      <p:sp>
        <p:nvSpPr>
          <p:cNvPr id="12" name="Label: Contributors:"/>
          <p:cNvSpPr txBox="1"/>
          <p:nvPr/>
        </p:nvSpPr>
        <p:spPr>
          <a:xfrm>
            <a:off x="1088136" y="3648456"/>
            <a:ext cx="1463040" cy="502920"/>
          </a:xfrm>
          <a:prstGeom prst="rect">
            <a:avLst/>
          </a:prstGeom>
          <a:noFill/>
          <a:ln/>
        </p:spPr>
        <p:txBody>
          <a:bodyPr wrap="square" lIns="0" tIns="0" rIns="0" bIns="0" rtlCol="0" anchor="ctr"/>
          <a:lstStyle/>
          <a:p>
            <a:pPr indent="0" marL="0">
              <a:buNone/>
            </a:pPr>
            <a:r>
              <a:rPr lang="en-US" sz="1500" b="1" dirty="0">
                <a:solidFill>
                  <a:schemeClr val="tx1"/>
                </a:solidFill>
              </a:rPr>
              <a:t>Contributors:</a:t>
            </a:r>
            <a:endParaRPr lang="en-US" sz="1500" dirty="0"/>
          </a:p>
        </p:txBody>
      </p:sp>
      <p:sp>
        <p:nvSpPr>
          <p:cNvPr id="13" name="Value: Contributors:"/>
          <p:cNvSpPr txBox="1"/>
          <p:nvPr/>
        </p:nvSpPr>
        <p:spPr>
          <a:xfrm>
            <a:off x="2642616" y="3648456"/>
            <a:ext cx="3017520" cy="502920"/>
          </a:xfrm>
          <a:prstGeom prst="rect">
            <a:avLst/>
          </a:prstGeom>
          <a:noFill/>
          <a:ln/>
        </p:spPr>
        <p:txBody>
          <a:bodyPr wrap="square" lIns="0" tIns="0" rIns="0" bIns="0" rtlCol="0" anchor="ctr"/>
          <a:lstStyle/>
          <a:p>
            <a:pPr indent="0" marL="0">
              <a:buNone/>
            </a:pPr>
            <a:r>
              <a:rPr lang="en-US" sz="1500" b="1" i="1" dirty="0">
                <a:solidFill>
                  <a:schemeClr val="accent2"/>
                </a:solidFill>
              </a:rPr>
              <a:t>[All 3 members added?]</a:t>
            </a:r>
            <a:endParaRPr lang="en-US" sz="1500" dirty="0"/>
          </a:p>
        </p:txBody>
      </p:sp>
      <p:sp>
        <p:nvSpPr>
          <p:cNvPr id="14" name="Bullet: Repo status:"/>
          <p:cNvSpPr/>
          <p:nvPr/>
        </p:nvSpPr>
        <p:spPr>
          <a:xfrm rot="5400000">
            <a:off x="777240" y="4421124"/>
            <a:ext cx="182880" cy="164592"/>
          </a:xfrm>
          <a:prstGeom prst="triangle">
            <a:avLst/>
          </a:prstGeom>
          <a:solidFill>
            <a:schemeClr val="tx2"/>
          </a:solidFill>
          <a:ln w="12700">
            <a:solidFill>
              <a:schemeClr val="tx2"/>
            </a:solidFill>
            <a:prstDash val="solid"/>
          </a:ln>
        </p:spPr>
      </p:sp>
      <p:sp>
        <p:nvSpPr>
          <p:cNvPr id="15" name="Label: Repo status:"/>
          <p:cNvSpPr txBox="1"/>
          <p:nvPr/>
        </p:nvSpPr>
        <p:spPr>
          <a:xfrm>
            <a:off x="1088136" y="4261104"/>
            <a:ext cx="1463040" cy="502920"/>
          </a:xfrm>
          <a:prstGeom prst="rect">
            <a:avLst/>
          </a:prstGeom>
          <a:noFill/>
          <a:ln/>
        </p:spPr>
        <p:txBody>
          <a:bodyPr wrap="square" lIns="0" tIns="0" rIns="0" bIns="0" rtlCol="0" anchor="ctr"/>
          <a:lstStyle/>
          <a:p>
            <a:pPr indent="0" marL="0">
              <a:buNone/>
            </a:pPr>
            <a:r>
              <a:rPr lang="en-US" sz="1500" b="1" dirty="0">
                <a:solidFill>
                  <a:schemeClr val="tx1"/>
                </a:solidFill>
              </a:rPr>
              <a:t>Repo status:</a:t>
            </a:r>
            <a:endParaRPr lang="en-US" sz="1500" dirty="0"/>
          </a:p>
        </p:txBody>
      </p:sp>
      <p:sp>
        <p:nvSpPr>
          <p:cNvPr id="16" name="Value: Repo status:"/>
          <p:cNvSpPr txBox="1"/>
          <p:nvPr/>
        </p:nvSpPr>
        <p:spPr>
          <a:xfrm>
            <a:off x="2642616" y="4261104"/>
            <a:ext cx="3017520" cy="502920"/>
          </a:xfrm>
          <a:prstGeom prst="rect">
            <a:avLst/>
          </a:prstGeom>
          <a:noFill/>
          <a:ln/>
        </p:spPr>
        <p:txBody>
          <a:bodyPr wrap="square" lIns="0" tIns="0" rIns="0" bIns="0" rtlCol="0" anchor="ctr"/>
          <a:lstStyle/>
          <a:p>
            <a:pPr indent="0" marL="0">
              <a:buNone/>
            </a:pPr>
            <a:r>
              <a:rPr lang="en-US" sz="1500" b="1" i="1" dirty="0">
                <a:solidFill>
                  <a:schemeClr val="accent2"/>
                </a:solidFill>
              </a:rPr>
              <a:t>[Latest code pushed?]</a:t>
            </a:r>
            <a:endParaRPr lang="en-US" sz="1500" dirty="0"/>
          </a:p>
        </p:txBody>
      </p:sp>
      <p:sp>
        <p:nvSpPr>
          <p:cNvPr id="17" name="Bullet: Branches:"/>
          <p:cNvSpPr/>
          <p:nvPr/>
        </p:nvSpPr>
        <p:spPr>
          <a:xfrm rot="5400000">
            <a:off x="777240" y="5033772"/>
            <a:ext cx="182880" cy="164592"/>
          </a:xfrm>
          <a:prstGeom prst="triangle">
            <a:avLst/>
          </a:prstGeom>
          <a:solidFill>
            <a:schemeClr val="tx2"/>
          </a:solidFill>
          <a:ln w="12700">
            <a:solidFill>
              <a:schemeClr val="tx2"/>
            </a:solidFill>
            <a:prstDash val="solid"/>
          </a:ln>
        </p:spPr>
      </p:sp>
      <p:sp>
        <p:nvSpPr>
          <p:cNvPr id="18" name="Label: Branches:"/>
          <p:cNvSpPr txBox="1"/>
          <p:nvPr/>
        </p:nvSpPr>
        <p:spPr>
          <a:xfrm>
            <a:off x="1088136" y="4873752"/>
            <a:ext cx="1463040" cy="502920"/>
          </a:xfrm>
          <a:prstGeom prst="rect">
            <a:avLst/>
          </a:prstGeom>
          <a:noFill/>
          <a:ln/>
        </p:spPr>
        <p:txBody>
          <a:bodyPr wrap="square" lIns="0" tIns="0" rIns="0" bIns="0" rtlCol="0" anchor="ctr"/>
          <a:lstStyle/>
          <a:p>
            <a:pPr indent="0" marL="0">
              <a:buNone/>
            </a:pPr>
            <a:r>
              <a:rPr lang="en-US" sz="1500" b="1" dirty="0">
                <a:solidFill>
                  <a:schemeClr val="tx1"/>
                </a:solidFill>
              </a:rPr>
              <a:t>Branches:</a:t>
            </a:r>
            <a:endParaRPr lang="en-US" sz="1500" dirty="0"/>
          </a:p>
        </p:txBody>
      </p:sp>
      <p:sp>
        <p:nvSpPr>
          <p:cNvPr id="19" name="Value: Branches:"/>
          <p:cNvSpPr txBox="1"/>
          <p:nvPr/>
        </p:nvSpPr>
        <p:spPr>
          <a:xfrm>
            <a:off x="2642616" y="4873752"/>
            <a:ext cx="3017520" cy="502920"/>
          </a:xfrm>
          <a:prstGeom prst="rect">
            <a:avLst/>
          </a:prstGeom>
          <a:noFill/>
          <a:ln/>
        </p:spPr>
        <p:txBody>
          <a:bodyPr wrap="square" lIns="0" tIns="0" rIns="0" bIns="0" rtlCol="0" anchor="ctr"/>
          <a:lstStyle/>
          <a:p>
            <a:pPr indent="0" marL="0">
              <a:buNone/>
            </a:pPr>
            <a:r>
              <a:rPr lang="en-US" sz="1500" b="1" i="1" dirty="0">
                <a:solidFill>
                  <a:schemeClr val="accent2"/>
                </a:solidFill>
              </a:rPr>
              <a:t>[main / others]</a:t>
            </a:r>
            <a:endParaRPr lang="en-US" sz="1500" dirty="0"/>
          </a:p>
        </p:txBody>
      </p:sp>
      <p:sp>
        <p:nvSpPr>
          <p:cNvPr id="20" name="Activity card"/>
          <p:cNvSpPr/>
          <p:nvPr/>
        </p:nvSpPr>
        <p:spPr>
          <a:xfrm>
            <a:off x="6309360" y="1508760"/>
            <a:ext cx="5330952" cy="4114800"/>
          </a:xfrm>
          <a:prstGeom prst="roundRect">
            <a:avLst>
              <a:gd name="adj" fmla="val 2667"/>
            </a:avLst>
          </a:prstGeom>
          <a:solidFill>
            <a:schemeClr val="bg2"/>
          </a:solidFill>
          <a:ln w="12700">
            <a:solidFill>
              <a:schemeClr val="bg2"/>
            </a:solidFill>
            <a:prstDash val="solid"/>
          </a:ln>
        </p:spPr>
      </p:sp>
      <p:sp>
        <p:nvSpPr>
          <p:cNvPr id="21" name="Heading: Development Activity"/>
          <p:cNvSpPr txBox="1"/>
          <p:nvPr/>
        </p:nvSpPr>
        <p:spPr>
          <a:xfrm>
            <a:off x="6537960" y="1645920"/>
            <a:ext cx="4937760" cy="411480"/>
          </a:xfrm>
          <a:prstGeom prst="rect">
            <a:avLst/>
          </a:prstGeom>
          <a:noFill/>
          <a:ln/>
        </p:spPr>
        <p:txBody>
          <a:bodyPr wrap="square" lIns="0" tIns="0" rIns="0" bIns="0" rtlCol="0" anchor="ctr"/>
          <a:lstStyle/>
          <a:p>
            <a:pPr indent="0" marL="0">
              <a:buNone/>
            </a:pPr>
            <a:r>
              <a:rPr lang="en-US" sz="2000" b="1" dirty="0">
                <a:solidFill>
                  <a:schemeClr val="tx2"/>
                </a:solidFill>
              </a:rPr>
              <a:t>Development Activity</a:t>
            </a:r>
            <a:endParaRPr lang="en-US" sz="2000" dirty="0"/>
          </a:p>
        </p:txBody>
      </p:sp>
      <p:sp>
        <p:nvSpPr>
          <p:cNvPr id="22" name="Bullet: Commits so far:"/>
          <p:cNvSpPr/>
          <p:nvPr/>
        </p:nvSpPr>
        <p:spPr>
          <a:xfrm rot="5400000">
            <a:off x="6537960" y="2354580"/>
            <a:ext cx="182880" cy="164592"/>
          </a:xfrm>
          <a:prstGeom prst="triangle">
            <a:avLst/>
          </a:prstGeom>
          <a:solidFill>
            <a:schemeClr val="tx2"/>
          </a:solidFill>
          <a:ln w="12700">
            <a:solidFill>
              <a:schemeClr val="tx2"/>
            </a:solidFill>
            <a:prstDash val="solid"/>
          </a:ln>
        </p:spPr>
      </p:sp>
      <p:sp>
        <p:nvSpPr>
          <p:cNvPr id="23" name="Label: Commits so far:"/>
          <p:cNvSpPr txBox="1"/>
          <p:nvPr/>
        </p:nvSpPr>
        <p:spPr>
          <a:xfrm>
            <a:off x="6848856" y="2194560"/>
            <a:ext cx="1828800" cy="502920"/>
          </a:xfrm>
          <a:prstGeom prst="rect">
            <a:avLst/>
          </a:prstGeom>
          <a:noFill/>
          <a:ln/>
        </p:spPr>
        <p:txBody>
          <a:bodyPr wrap="square" lIns="0" tIns="0" rIns="0" bIns="0" rtlCol="0" anchor="ctr"/>
          <a:lstStyle/>
          <a:p>
            <a:pPr indent="0" marL="0">
              <a:buNone/>
            </a:pPr>
            <a:r>
              <a:rPr lang="en-US" sz="1500" b="1" dirty="0">
                <a:solidFill>
                  <a:schemeClr val="tx1"/>
                </a:solidFill>
              </a:rPr>
              <a:t>Commits so far:</a:t>
            </a:r>
            <a:endParaRPr lang="en-US" sz="1500" dirty="0"/>
          </a:p>
        </p:txBody>
      </p:sp>
      <p:sp>
        <p:nvSpPr>
          <p:cNvPr id="24" name="Value: Commits so far:"/>
          <p:cNvSpPr txBox="1"/>
          <p:nvPr/>
        </p:nvSpPr>
        <p:spPr>
          <a:xfrm>
            <a:off x="8769096" y="2194560"/>
            <a:ext cx="2651760" cy="502920"/>
          </a:xfrm>
          <a:prstGeom prst="rect">
            <a:avLst/>
          </a:prstGeom>
          <a:noFill/>
          <a:ln/>
        </p:spPr>
        <p:txBody>
          <a:bodyPr wrap="square" lIns="0" tIns="0" rIns="0" bIns="0" rtlCol="0" anchor="ctr"/>
          <a:lstStyle/>
          <a:p>
            <a:pPr indent="0" marL="0">
              <a:buNone/>
            </a:pPr>
            <a:r>
              <a:rPr lang="en-US" sz="1500" b="1" i="1" dirty="0">
                <a:solidFill>
                  <a:schemeClr val="accent2"/>
                </a:solidFill>
              </a:rPr>
              <a:t>[number]</a:t>
            </a:r>
            <a:endParaRPr lang="en-US" sz="1500" dirty="0"/>
          </a:p>
        </p:txBody>
      </p:sp>
      <p:sp>
        <p:nvSpPr>
          <p:cNvPr id="25" name="Bullet: Individual commits:"/>
          <p:cNvSpPr/>
          <p:nvPr/>
        </p:nvSpPr>
        <p:spPr>
          <a:xfrm rot="5400000">
            <a:off x="6537960" y="3081528"/>
            <a:ext cx="182880" cy="164592"/>
          </a:xfrm>
          <a:prstGeom prst="triangle">
            <a:avLst/>
          </a:prstGeom>
          <a:solidFill>
            <a:schemeClr val="tx2"/>
          </a:solidFill>
          <a:ln w="12700">
            <a:solidFill>
              <a:schemeClr val="tx2"/>
            </a:solidFill>
            <a:prstDash val="solid"/>
          </a:ln>
        </p:spPr>
      </p:sp>
      <p:sp>
        <p:nvSpPr>
          <p:cNvPr id="26" name="Label: Individual commits:"/>
          <p:cNvSpPr txBox="1"/>
          <p:nvPr/>
        </p:nvSpPr>
        <p:spPr>
          <a:xfrm>
            <a:off x="6848856" y="2807208"/>
            <a:ext cx="1828800" cy="731520"/>
          </a:xfrm>
          <a:prstGeom prst="rect">
            <a:avLst/>
          </a:prstGeom>
          <a:noFill/>
          <a:ln/>
        </p:spPr>
        <p:txBody>
          <a:bodyPr wrap="square" lIns="0" tIns="0" rIns="0" bIns="0" rtlCol="0" anchor="ctr"/>
          <a:lstStyle/>
          <a:p>
            <a:pPr indent="0" marL="0">
              <a:buNone/>
            </a:pPr>
            <a:r>
              <a:rPr lang="en-US" sz="1500" b="1" dirty="0">
                <a:solidFill>
                  <a:schemeClr val="tx1"/>
                </a:solidFill>
              </a:rPr>
              <a:t>Individual commits:</a:t>
            </a:r>
            <a:endParaRPr lang="en-US" sz="1500" dirty="0"/>
          </a:p>
        </p:txBody>
      </p:sp>
      <p:sp>
        <p:nvSpPr>
          <p:cNvPr id="27" name="Value: Individual commits:"/>
          <p:cNvSpPr txBox="1"/>
          <p:nvPr/>
        </p:nvSpPr>
        <p:spPr>
          <a:xfrm>
            <a:off x="8769096" y="2807208"/>
            <a:ext cx="2651760" cy="731520"/>
          </a:xfrm>
          <a:prstGeom prst="rect">
            <a:avLst/>
          </a:prstGeom>
          <a:noFill/>
          <a:ln/>
        </p:spPr>
        <p:txBody>
          <a:bodyPr wrap="square" lIns="0" tIns="0" rIns="0" bIns="0" rtlCol="0" anchor="ctr"/>
          <a:lstStyle/>
          <a:p>
            <a:pPr indent="0" marL="0">
              <a:buNone/>
            </a:pPr>
            <a:r>
              <a:rPr lang="en-US" sz="1500" b="1" i="1" dirty="0">
                <a:solidFill>
                  <a:schemeClr val="accent2"/>
                </a:solidFill>
              </a:rPr>
              <a:t>[each member, own account]</a:t>
            </a:r>
            <a:endParaRPr lang="en-US" sz="1500" dirty="0"/>
          </a:p>
        </p:txBody>
      </p:sp>
      <p:sp>
        <p:nvSpPr>
          <p:cNvPr id="28" name="Bullet: Last upload:"/>
          <p:cNvSpPr/>
          <p:nvPr/>
        </p:nvSpPr>
        <p:spPr>
          <a:xfrm rot="5400000">
            <a:off x="6537960" y="3808476"/>
            <a:ext cx="182880" cy="164592"/>
          </a:xfrm>
          <a:prstGeom prst="triangle">
            <a:avLst/>
          </a:prstGeom>
          <a:solidFill>
            <a:schemeClr val="tx2"/>
          </a:solidFill>
          <a:ln w="12700">
            <a:solidFill>
              <a:schemeClr val="tx2"/>
            </a:solidFill>
            <a:prstDash val="solid"/>
          </a:ln>
        </p:spPr>
      </p:sp>
      <p:sp>
        <p:nvSpPr>
          <p:cNvPr id="29" name="Label: Last upload:"/>
          <p:cNvSpPr txBox="1"/>
          <p:nvPr/>
        </p:nvSpPr>
        <p:spPr>
          <a:xfrm>
            <a:off x="6848856" y="3648456"/>
            <a:ext cx="1828800" cy="502920"/>
          </a:xfrm>
          <a:prstGeom prst="rect">
            <a:avLst/>
          </a:prstGeom>
          <a:noFill/>
          <a:ln/>
        </p:spPr>
        <p:txBody>
          <a:bodyPr wrap="square" lIns="0" tIns="0" rIns="0" bIns="0" rtlCol="0" anchor="ctr"/>
          <a:lstStyle/>
          <a:p>
            <a:pPr indent="0" marL="0">
              <a:buNone/>
            </a:pPr>
            <a:r>
              <a:rPr lang="en-US" sz="1500" b="1" dirty="0">
                <a:solidFill>
                  <a:schemeClr val="tx1"/>
                </a:solidFill>
              </a:rPr>
              <a:t>Last upload:</a:t>
            </a:r>
            <a:endParaRPr lang="en-US" sz="1500" dirty="0"/>
          </a:p>
        </p:txBody>
      </p:sp>
      <p:sp>
        <p:nvSpPr>
          <p:cNvPr id="30" name="Value: Last upload:"/>
          <p:cNvSpPr txBox="1"/>
          <p:nvPr/>
        </p:nvSpPr>
        <p:spPr>
          <a:xfrm>
            <a:off x="8769096" y="3648456"/>
            <a:ext cx="2651760" cy="502920"/>
          </a:xfrm>
          <a:prstGeom prst="rect">
            <a:avLst/>
          </a:prstGeom>
          <a:noFill/>
          <a:ln/>
        </p:spPr>
        <p:txBody>
          <a:bodyPr wrap="square" lIns="0" tIns="0" rIns="0" bIns="0" rtlCol="0" anchor="ctr"/>
          <a:lstStyle/>
          <a:p>
            <a:pPr indent="0" marL="0">
              <a:buNone/>
            </a:pPr>
            <a:r>
              <a:rPr lang="en-US" sz="1500" b="1" i="1" dirty="0">
                <a:solidFill>
                  <a:schemeClr val="accent2"/>
                </a:solidFill>
              </a:rPr>
              <a:t>[date]</a:t>
            </a:r>
            <a:endParaRPr lang="en-US" sz="1500" dirty="0"/>
          </a:p>
        </p:txBody>
      </p:sp>
      <p:sp>
        <p:nvSpPr>
          <p:cNvPr id="31" name="Bullet: Documentation:"/>
          <p:cNvSpPr/>
          <p:nvPr/>
        </p:nvSpPr>
        <p:spPr>
          <a:xfrm rot="5400000">
            <a:off x="6537960" y="4421124"/>
            <a:ext cx="182880" cy="164592"/>
          </a:xfrm>
          <a:prstGeom prst="triangle">
            <a:avLst/>
          </a:prstGeom>
          <a:solidFill>
            <a:schemeClr val="tx2"/>
          </a:solidFill>
          <a:ln w="12700">
            <a:solidFill>
              <a:schemeClr val="tx2"/>
            </a:solidFill>
            <a:prstDash val="solid"/>
          </a:ln>
        </p:spPr>
      </p:sp>
      <p:sp>
        <p:nvSpPr>
          <p:cNvPr id="32" name="Label: Documentation:"/>
          <p:cNvSpPr txBox="1"/>
          <p:nvPr/>
        </p:nvSpPr>
        <p:spPr>
          <a:xfrm>
            <a:off x="6848856" y="4261104"/>
            <a:ext cx="1828800" cy="502920"/>
          </a:xfrm>
          <a:prstGeom prst="rect">
            <a:avLst/>
          </a:prstGeom>
          <a:noFill/>
          <a:ln/>
        </p:spPr>
        <p:txBody>
          <a:bodyPr wrap="square" lIns="0" tIns="0" rIns="0" bIns="0" rtlCol="0" anchor="ctr"/>
          <a:lstStyle/>
          <a:p>
            <a:pPr indent="0" marL="0">
              <a:buNone/>
            </a:pPr>
            <a:r>
              <a:rPr lang="en-US" sz="1500" b="1" dirty="0">
                <a:solidFill>
                  <a:schemeClr val="tx1"/>
                </a:solidFill>
              </a:rPr>
              <a:t>Documentation:</a:t>
            </a:r>
            <a:endParaRPr lang="en-US" sz="1500" dirty="0"/>
          </a:p>
        </p:txBody>
      </p:sp>
      <p:sp>
        <p:nvSpPr>
          <p:cNvPr id="33" name="Value: Documentation:"/>
          <p:cNvSpPr txBox="1"/>
          <p:nvPr/>
        </p:nvSpPr>
        <p:spPr>
          <a:xfrm>
            <a:off x="8769096" y="4261104"/>
            <a:ext cx="2651760" cy="502920"/>
          </a:xfrm>
          <a:prstGeom prst="rect">
            <a:avLst/>
          </a:prstGeom>
          <a:noFill/>
          <a:ln/>
        </p:spPr>
        <p:txBody>
          <a:bodyPr wrap="square" lIns="0" tIns="0" rIns="0" bIns="0" rtlCol="0" anchor="ctr"/>
          <a:lstStyle/>
          <a:p>
            <a:pPr indent="0" marL="0">
              <a:buNone/>
            </a:pPr>
            <a:r>
              <a:rPr lang="en-US" sz="1500" b="1" i="1" dirty="0">
                <a:solidFill>
                  <a:schemeClr val="accent2"/>
                </a:solidFill>
              </a:rPr>
              <a:t>[README, report, notes]</a:t>
            </a:r>
            <a:endParaRPr lang="en-US" sz="15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Individual Contribution</a:t>
            </a:r>
            <a:endParaRPr lang="en-US" sz="3200" dirty="0"/>
          </a:p>
        </p:txBody>
      </p:sp>
      <p:graphicFrame>
        <p:nvGraphicFramePr>
          <p:cNvPr id="14" name="Contribution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194560"/>
                <a:gridCol w="1645920"/>
                <a:gridCol w="6035040"/>
                <a:gridCol w="1216152"/>
              </a:tblGrid>
              <a:tr h="457200">
                <a:tc>
                  <a:txBody>
                    <a:bodyPr/>
                    <a:lstStyle/>
                    <a:p>
                      <a:pPr indent="0" marL="0">
                        <a:buNone/>
                      </a:pPr>
                      <a:r>
                        <a:rPr lang="en-US" sz="1400" b="1" dirty="0">
                          <a:solidFill>
                            <a:srgbClr val="FFFFFF"/>
                          </a:solidFill>
                        </a:rPr>
                        <a:t>Member</a:t>
                      </a:r>
                      <a:endParaRPr lang="en-US" sz="14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c>
                  <a:txBody>
                    <a:bodyPr/>
                    <a:lstStyle/>
                    <a:p>
                      <a:pPr indent="0" marL="0">
                        <a:buNone/>
                      </a:pPr>
                      <a:r>
                        <a:rPr lang="en-US" sz="1400" b="1" dirty="0">
                          <a:solidFill>
                            <a:srgbClr val="FFFFFF"/>
                          </a:solidFill>
                        </a:rPr>
                        <a:t>Role</a:t>
                      </a:r>
                      <a:endParaRPr lang="en-US" sz="14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c>
                  <a:txBody>
                    <a:bodyPr/>
                    <a:lstStyle/>
                    <a:p>
                      <a:pPr indent="0" marL="0">
                        <a:buNone/>
                      </a:pPr>
                      <a:r>
                        <a:rPr lang="en-US" sz="1400" b="1" dirty="0">
                          <a:solidFill>
                            <a:srgbClr val="FFFFFF"/>
                          </a:solidFill>
                        </a:rPr>
                        <a:t>Technical contribution</a:t>
                      </a:r>
                      <a:endParaRPr lang="en-US" sz="14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c>
                  <a:txBody>
                    <a:bodyPr/>
                    <a:lstStyle/>
                    <a:p>
                      <a:pPr algn="ctr" indent="0" marL="0">
                        <a:buNone/>
                      </a:pPr>
                      <a:r>
                        <a:rPr lang="en-US" sz="1400" b="1" dirty="0">
                          <a:solidFill>
                            <a:srgbClr val="FFFFFF"/>
                          </a:solidFill>
                        </a:rPr>
                        <a:t>GitHub commits</a:t>
                      </a:r>
                      <a:endParaRPr lang="en-US" sz="14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14376B"/>
                    </a:solidFill>
                  </a:tcPr>
                </a:tc>
              </a:tr>
              <a:tr h="914400">
                <a:tc>
                  <a:txBody>
                    <a:bodyPr/>
                    <a:lstStyle/>
                    <a:p>
                      <a:pPr indent="0" marL="0">
                        <a:buNone/>
                      </a:pPr>
                      <a:r>
                        <a:rPr lang="en-US" sz="1300" b="1" dirty="0">
                          <a:solidFill>
                            <a:srgbClr val="1B2430"/>
                          </a:solidFill>
                        </a:rPr>
                        <a:t>Ashutosh Bahuguna</a:t>
                      </a:r>
                      <a:endParaRPr lang="en-US" sz="13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Team Lead</a:t>
                      </a:r>
                      <a:endParaRPr lang="en-US" sz="13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Project structure and technology planning.</a:t>
                      </a:r>
                      <a:endParaRPr lang="en-US" sz="1200" dirty="0"/>
                    </a:p>
                    <a:p>
                      <a:pPr indent="0" marL="0">
                        <a:buNone/>
                      </a:pPr>
                      <a:r>
                        <a:rPr lang="en-US" sz="1300" b="1" i="1" dirty="0">
                          <a:solidFill>
                            <a:srgbClr val="C8102E"/>
                          </a:solidFill>
                        </a:rPr>
                        <a:t>[Add the specific modules you built, tested or changed]</a:t>
                      </a:r>
                      <a:endParaRPr lang="en-US" sz="12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algn="ctr" indent="0" marL="0">
                        <a:buNone/>
                      </a:pPr>
                      <a:r>
                        <a:rPr lang="en-US" sz="1300" b="1" i="1" dirty="0">
                          <a:solidFill>
                            <a:srgbClr val="C8102E"/>
                          </a:solidFill>
                        </a:rPr>
                        <a:t>[XX]</a:t>
                      </a:r>
                      <a:endParaRPr lang="en-US" sz="13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914400">
                <a:tc>
                  <a:txBody>
                    <a:bodyPr/>
                    <a:lstStyle/>
                    <a:p>
                      <a:pPr indent="0" marL="0">
                        <a:buNone/>
                      </a:pPr>
                      <a:r>
                        <a:rPr lang="en-US" sz="1300" b="1" dirty="0">
                          <a:solidFill>
                            <a:srgbClr val="1B2430"/>
                          </a:solidFill>
                        </a:rPr>
                        <a:t>Snehal Pundir</a:t>
                      </a:r>
                      <a:endParaRPr lang="en-US" sz="13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Game design</a:t>
                      </a:r>
                      <a:endParaRPr lang="en-US" sz="13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Game design: locations, clues, suspects and features.</a:t>
                      </a:r>
                      <a:endParaRPr lang="en-US" sz="1200" dirty="0"/>
                    </a:p>
                    <a:p>
                      <a:pPr indent="0" marL="0">
                        <a:buNone/>
                      </a:pPr>
                      <a:r>
                        <a:rPr lang="en-US" sz="1300" b="1" i="1" dirty="0">
                          <a:solidFill>
                            <a:srgbClr val="C8102E"/>
                          </a:solidFill>
                        </a:rPr>
                        <a:t>[Add the specific work you did in code or testing]</a:t>
                      </a:r>
                      <a:endParaRPr lang="en-US" sz="12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algn="ctr" indent="0" marL="0">
                        <a:buNone/>
                      </a:pPr>
                      <a:r>
                        <a:rPr lang="en-US" sz="1300" b="1" i="1" dirty="0">
                          <a:solidFill>
                            <a:srgbClr val="C8102E"/>
                          </a:solidFill>
                        </a:rPr>
                        <a:t>[XX]</a:t>
                      </a:r>
                      <a:endParaRPr lang="en-US" sz="13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r h="914400">
                <a:tc>
                  <a:txBody>
                    <a:bodyPr/>
                    <a:lstStyle/>
                    <a:p>
                      <a:pPr indent="0" marL="0">
                        <a:buNone/>
                      </a:pPr>
                      <a:r>
                        <a:rPr lang="en-US" sz="1300" b="1" dirty="0">
                          <a:solidFill>
                            <a:srgbClr val="1B2430"/>
                          </a:solidFill>
                        </a:rPr>
                        <a:t>Vidhi Somraan</a:t>
                      </a:r>
                      <a:endParaRPr lang="en-US" sz="13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Database</a:t>
                      </a:r>
                      <a:endParaRPr lang="en-US" sz="13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SQLite database work for user details and progress.</a:t>
                      </a:r>
                      <a:endParaRPr lang="en-US" sz="1200" dirty="0"/>
                    </a:p>
                    <a:p>
                      <a:pPr indent="0" marL="0">
                        <a:buNone/>
                      </a:pPr>
                      <a:r>
                        <a:rPr lang="en-US" sz="1300" b="1" i="1" dirty="0">
                          <a:solidFill>
                            <a:srgbClr val="C8102E"/>
                          </a:solidFill>
                        </a:rPr>
                        <a:t>[Add what is implemented and tested]</a:t>
                      </a:r>
                      <a:endParaRPr lang="en-US" sz="12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c>
                  <a:txBody>
                    <a:bodyPr/>
                    <a:lstStyle/>
                    <a:p>
                      <a:pPr algn="ctr" indent="0" marL="0">
                        <a:buNone/>
                      </a:pPr>
                      <a:r>
                        <a:rPr lang="en-US" sz="1300" b="1" i="1" dirty="0">
                          <a:solidFill>
                            <a:srgbClr val="C8102E"/>
                          </a:solidFill>
                        </a:rPr>
                        <a:t>[XX]</a:t>
                      </a:r>
                      <a:endParaRPr lang="en-US" sz="1300" dirty="0"/>
                    </a:p>
                  </a:txBody>
                  <a:tcPr marL="91440" marR="91440" marT="54864" marB="54864" anchor="ctr">
                    <a:lnL w="12700" cap="flat" cmpd="sng" algn="ctr">
                      <a:solidFill>
                        <a:srgbClr val="B9C7DA"/>
                      </a:solidFill>
                      <a:prstDash val="solid"/>
                      <a:round/>
                      <a:headEnd type="none" w="med" len="med"/>
                      <a:tailEnd type="none" w="med" len="med"/>
                    </a:lnL>
                    <a:lnR w="12700" cap="flat" cmpd="sng" algn="ctr">
                      <a:solidFill>
                        <a:srgbClr val="B9C7DA"/>
                      </a:solidFill>
                      <a:prstDash val="solid"/>
                      <a:round/>
                      <a:headEnd type="none" w="med" len="med"/>
                      <a:tailEnd type="none" w="med" len="med"/>
                    </a:lnR>
                    <a:lnT w="12700" cap="flat" cmpd="sng" algn="ctr">
                      <a:solidFill>
                        <a:srgbClr val="B9C7DA"/>
                      </a:solidFill>
                      <a:prstDash val="solid"/>
                      <a:round/>
                      <a:headEnd type="none" w="med" len="med"/>
                      <a:tailEnd type="none" w="med" len="med"/>
                    </a:lnT>
                    <a:lnB w="12700" cap="flat" cmpd="sng" algn="ctr">
                      <a:solidFill>
                        <a:srgbClr val="B9C7DA"/>
                      </a:solidFill>
                      <a:prstDash val="solid"/>
                      <a:round/>
                      <a:headEnd type="none" w="med" len="med"/>
                      <a:tailEnd type="none" w="med" len="med"/>
                    </a:lnB>
                    <a:solidFill>
                      <a:srgbClr val="FFFFFF"/>
                    </a:solidFill>
                  </a:tcPr>
                </a:tc>
              </a:tr>
            </a:tbl>
          </a:graphicData>
        </a:graphic>
      </p:graphicFrame>
      <p:sp>
        <p:nvSpPr>
          <p:cNvPr id="4" name="Individual evaluation card"/>
          <p:cNvSpPr/>
          <p:nvPr/>
        </p:nvSpPr>
        <p:spPr>
          <a:xfrm>
            <a:off x="548640" y="5029200"/>
            <a:ext cx="11091672" cy="1234440"/>
          </a:xfrm>
          <a:prstGeom prst="roundRect">
            <a:avLst>
              <a:gd name="adj" fmla="val 8889"/>
            </a:avLst>
          </a:prstGeom>
          <a:solidFill>
            <a:schemeClr val="bg2"/>
          </a:solidFill>
          <a:ln w="12700">
            <a:solidFill>
              <a:schemeClr val="bg2"/>
            </a:solidFill>
            <a:prstDash val="solid"/>
          </a:ln>
        </p:spPr>
      </p:sp>
      <p:sp>
        <p:nvSpPr>
          <p:cNvPr id="5" name="Heading: Individual Evaluation"/>
          <p:cNvSpPr txBox="1"/>
          <p:nvPr/>
        </p:nvSpPr>
        <p:spPr>
          <a:xfrm>
            <a:off x="777240" y="5120640"/>
            <a:ext cx="5486400" cy="411480"/>
          </a:xfrm>
          <a:prstGeom prst="rect">
            <a:avLst/>
          </a:prstGeom>
          <a:noFill/>
          <a:ln/>
        </p:spPr>
        <p:txBody>
          <a:bodyPr wrap="square" lIns="0" tIns="0" rIns="0" bIns="0" rtlCol="0" anchor="ctr"/>
          <a:lstStyle/>
          <a:p>
            <a:pPr indent="0" marL="0">
              <a:buNone/>
            </a:pPr>
            <a:r>
              <a:rPr lang="en-US" sz="1800" b="1" dirty="0">
                <a:solidFill>
                  <a:schemeClr val="tx2"/>
                </a:solidFill>
              </a:rPr>
              <a:t>Individual Evaluation</a:t>
            </a:r>
            <a:endParaRPr lang="en-US" sz="1800" dirty="0"/>
          </a:p>
        </p:txBody>
      </p:sp>
      <p:sp>
        <p:nvSpPr>
          <p:cNvPr id="6" name="Individual evaluation text"/>
          <p:cNvSpPr txBox="1"/>
          <p:nvPr/>
        </p:nvSpPr>
        <p:spPr>
          <a:xfrm>
            <a:off x="777240" y="5532120"/>
            <a:ext cx="10607040" cy="640080"/>
          </a:xfrm>
          <a:prstGeom prst="rect">
            <a:avLst/>
          </a:prstGeom>
          <a:noFill/>
          <a:ln/>
        </p:spPr>
        <p:txBody>
          <a:bodyPr wrap="square" lIns="0" tIns="0" rIns="0" bIns="0" rtlCol="0" anchor="t"/>
          <a:lstStyle/>
          <a:p>
            <a:pPr indent="0" marL="0">
              <a:buNone/>
            </a:pPr>
            <a:r>
              <a:rPr lang="en-US" sz="1400" dirty="0">
                <a:solidFill>
                  <a:schemeClr val="tx1"/>
                </a:solidFill>
              </a:rPr>
              <a:t>Every member should be ready to explain and demonstrate their own technical contribution. Contributions here must be specific and verifiable in the commit history.</a:t>
            </a:r>
            <a:endParaRPr lang="en-US" sz="14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Challenges, Remaining Work &amp; Phase-III Roadmap</a:t>
            </a:r>
            <a:endParaRPr lang="en-US" sz="3200" dirty="0"/>
          </a:p>
        </p:txBody>
      </p:sp>
      <p:sp>
        <p:nvSpPr>
          <p:cNvPr id="3" name="Column card: Challenges Faced"/>
          <p:cNvSpPr/>
          <p:nvPr/>
        </p:nvSpPr>
        <p:spPr>
          <a:xfrm>
            <a:off x="548640" y="1463040"/>
            <a:ext cx="3520440" cy="4480560"/>
          </a:xfrm>
          <a:prstGeom prst="roundRect">
            <a:avLst>
              <a:gd name="adj" fmla="val 3117"/>
            </a:avLst>
          </a:prstGeom>
          <a:solidFill>
            <a:schemeClr val="bg2"/>
          </a:solidFill>
          <a:ln w="12700">
            <a:solidFill>
              <a:schemeClr val="bg2"/>
            </a:solidFill>
            <a:prstDash val="solid"/>
          </a:ln>
        </p:spPr>
      </p:sp>
      <p:sp>
        <p:nvSpPr>
          <p:cNvPr id="4" name="Heading: Challenges Faced"/>
          <p:cNvSpPr txBox="1"/>
          <p:nvPr/>
        </p:nvSpPr>
        <p:spPr>
          <a:xfrm>
            <a:off x="731520" y="1600200"/>
            <a:ext cx="3154680" cy="411480"/>
          </a:xfrm>
          <a:prstGeom prst="rect">
            <a:avLst/>
          </a:prstGeom>
          <a:noFill/>
          <a:ln/>
        </p:spPr>
        <p:txBody>
          <a:bodyPr wrap="square" lIns="0" tIns="0" rIns="0" bIns="0" rtlCol="0" anchor="ctr"/>
          <a:lstStyle/>
          <a:p>
            <a:pPr indent="0" marL="0">
              <a:buNone/>
            </a:pPr>
            <a:r>
              <a:rPr lang="en-US" sz="2000" b="1" dirty="0">
                <a:solidFill>
                  <a:schemeClr val="tx2"/>
                </a:solidFill>
              </a:rPr>
              <a:t>Challenges Faced</a:t>
            </a:r>
            <a:endParaRPr lang="en-US" sz="2000" dirty="0"/>
          </a:p>
        </p:txBody>
      </p:sp>
      <p:sp>
        <p:nvSpPr>
          <p:cNvPr id="5" name="Column text: Challenges Faced"/>
          <p:cNvSpPr txBox="1"/>
          <p:nvPr/>
        </p:nvSpPr>
        <p:spPr>
          <a:xfrm>
            <a:off x="731520" y="2148840"/>
            <a:ext cx="3154680" cy="3657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430"/>
                </a:solidFill>
              </a:rPr>
              <a:t>Qt installation, and a missing-DLL error when we first ran the window</a:t>
            </a:r>
            <a:endParaRPr lang="en-US" sz="1600" dirty="0"/>
          </a:p>
          <a:p>
            <a:pPr marL="342900" indent="-342900">
              <a:spcAft>
                <a:spcPts val="1000"/>
              </a:spcAft>
              <a:buSzPct val="100000"/>
              <a:buChar char="▶"/>
            </a:pPr>
            <a:r>
              <a:rPr lang="en-US" sz="1600" dirty="0">
                <a:solidFill>
                  <a:srgbClr val="1B2430"/>
                </a:solidFill>
              </a:rPr>
              <a:t>Our first version was only “collect clues” and felt boring</a:t>
            </a:r>
            <a:endParaRPr lang="en-US" sz="1600" dirty="0"/>
          </a:p>
          <a:p>
            <a:pPr marL="342900" indent="-342900">
              <a:spcAft>
                <a:spcPts val="1000"/>
              </a:spcAft>
              <a:buSzPct val="100000"/>
              <a:buChar char="▶"/>
            </a:pPr>
            <a:r>
              <a:rPr lang="en-US" sz="1600" dirty="0">
                <a:solidFill>
                  <a:srgbClr val="1B2430"/>
                </a:solidFill>
              </a:rPr>
              <a:t>Making sure the mystery has exactly one fair solution</a:t>
            </a:r>
            <a:endParaRPr lang="en-US" sz="1600" dirty="0"/>
          </a:p>
          <a:p>
            <a:pPr marL="342900" indent="-342900">
              <a:spcAft>
                <a:spcPts val="1000"/>
              </a:spcAft>
              <a:buSzPct val="100000"/>
              <a:buChar char="▶"/>
            </a:pPr>
            <a:r>
              <a:rPr lang="en-US" sz="1600" dirty="0">
                <a:solidFill>
                  <a:srgbClr val="1B2430"/>
                </a:solidFill>
              </a:rPr>
              <a:t>Integration bugs, such as arriving inside a wall after a door</a:t>
            </a:r>
            <a:endParaRPr lang="en-US" sz="1600" dirty="0"/>
          </a:p>
        </p:txBody>
      </p:sp>
      <p:sp>
        <p:nvSpPr>
          <p:cNvPr id="6" name="Column card: Solutions / Learning"/>
          <p:cNvSpPr/>
          <p:nvPr/>
        </p:nvSpPr>
        <p:spPr>
          <a:xfrm>
            <a:off x="4334256" y="1463040"/>
            <a:ext cx="3520440" cy="4480560"/>
          </a:xfrm>
          <a:prstGeom prst="roundRect">
            <a:avLst>
              <a:gd name="adj" fmla="val 3117"/>
            </a:avLst>
          </a:prstGeom>
          <a:solidFill>
            <a:schemeClr val="bg2"/>
          </a:solidFill>
          <a:ln w="12700">
            <a:solidFill>
              <a:schemeClr val="bg2"/>
            </a:solidFill>
            <a:prstDash val="solid"/>
          </a:ln>
        </p:spPr>
      </p:sp>
      <p:sp>
        <p:nvSpPr>
          <p:cNvPr id="7" name="Heading: Solutions / Learning"/>
          <p:cNvSpPr txBox="1"/>
          <p:nvPr/>
        </p:nvSpPr>
        <p:spPr>
          <a:xfrm>
            <a:off x="4517136" y="1600200"/>
            <a:ext cx="3154680" cy="411480"/>
          </a:xfrm>
          <a:prstGeom prst="rect">
            <a:avLst/>
          </a:prstGeom>
          <a:noFill/>
          <a:ln/>
        </p:spPr>
        <p:txBody>
          <a:bodyPr wrap="square" lIns="0" tIns="0" rIns="0" bIns="0" rtlCol="0" anchor="ctr"/>
          <a:lstStyle/>
          <a:p>
            <a:pPr indent="0" marL="0">
              <a:buNone/>
            </a:pPr>
            <a:r>
              <a:rPr lang="en-US" sz="2000" b="1" dirty="0">
                <a:solidFill>
                  <a:schemeClr val="tx2"/>
                </a:solidFill>
              </a:rPr>
              <a:t>Solutions / Learning</a:t>
            </a:r>
            <a:endParaRPr lang="en-US" sz="2000" dirty="0"/>
          </a:p>
        </p:txBody>
      </p:sp>
      <p:sp>
        <p:nvSpPr>
          <p:cNvPr id="8" name="Column text: Solutions / Learning"/>
          <p:cNvSpPr txBox="1"/>
          <p:nvPr/>
        </p:nvSpPr>
        <p:spPr>
          <a:xfrm>
            <a:off x="4517136" y="2148840"/>
            <a:ext cx="3154680" cy="3657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430"/>
                </a:solidFill>
              </a:rPr>
              <a:t>Deployed the Qt libraries and learned clean rebuilds</a:t>
            </a:r>
            <a:endParaRPr lang="en-US" sz="1600" dirty="0"/>
          </a:p>
          <a:p>
            <a:pPr marL="342900" indent="-342900">
              <a:spcAft>
                <a:spcPts val="1000"/>
              </a:spcAft>
              <a:buSzPct val="100000"/>
              <a:buChar char="▶"/>
            </a:pPr>
            <a:r>
              <a:rPr lang="en-US" sz="1600" dirty="0">
                <a:solidFill>
                  <a:srgbClr val="1B2430"/>
                </a:solidFill>
              </a:rPr>
              <a:t>Redesigned the game around cross-examination and science puzzles</a:t>
            </a:r>
            <a:endParaRPr lang="en-US" sz="1600" dirty="0"/>
          </a:p>
          <a:p>
            <a:pPr marL="342900" indent="-342900">
              <a:spcAft>
                <a:spcPts val="1000"/>
              </a:spcAft>
              <a:buSzPct val="100000"/>
              <a:buChar char="▶"/>
            </a:pPr>
            <a:r>
              <a:rPr lang="en-US" sz="1600" dirty="0">
                <a:solidFill>
                  <a:srgbClr val="1B2430"/>
                </a:solidFill>
              </a:rPr>
              <a:t>Wrote a validator and automated tests that caught real bugs</a:t>
            </a:r>
            <a:endParaRPr lang="en-US" sz="1600" dirty="0"/>
          </a:p>
          <a:p>
            <a:pPr marL="342900" indent="-342900">
              <a:spcAft>
                <a:spcPts val="1000"/>
              </a:spcAft>
              <a:buSzPct val="100000"/>
              <a:buChar char="▶"/>
            </a:pPr>
            <a:r>
              <a:rPr lang="en-US" sz="1600" dirty="0">
                <a:solidFill>
                  <a:srgbClr val="1B2430"/>
                </a:solidFill>
              </a:rPr>
              <a:t>Learned Qt, Tiled and sprite graphics step by step</a:t>
            </a:r>
            <a:endParaRPr lang="en-US" sz="1600" dirty="0"/>
          </a:p>
        </p:txBody>
      </p:sp>
      <p:sp>
        <p:nvSpPr>
          <p:cNvPr id="9" name="Column card: Phase-III Roadmap"/>
          <p:cNvSpPr/>
          <p:nvPr/>
        </p:nvSpPr>
        <p:spPr>
          <a:xfrm>
            <a:off x="8119872" y="1463040"/>
            <a:ext cx="3520440" cy="4480560"/>
          </a:xfrm>
          <a:prstGeom prst="roundRect">
            <a:avLst>
              <a:gd name="adj" fmla="val 3117"/>
            </a:avLst>
          </a:prstGeom>
          <a:solidFill>
            <a:schemeClr val="bg2"/>
          </a:solidFill>
          <a:ln w="12700">
            <a:solidFill>
              <a:schemeClr val="bg2"/>
            </a:solidFill>
            <a:prstDash val="solid"/>
          </a:ln>
        </p:spPr>
      </p:sp>
      <p:sp>
        <p:nvSpPr>
          <p:cNvPr id="10" name="Heading: Phase-III Roadmap"/>
          <p:cNvSpPr txBox="1"/>
          <p:nvPr/>
        </p:nvSpPr>
        <p:spPr>
          <a:xfrm>
            <a:off x="8302752" y="1600200"/>
            <a:ext cx="3154680" cy="411480"/>
          </a:xfrm>
          <a:prstGeom prst="rect">
            <a:avLst/>
          </a:prstGeom>
          <a:noFill/>
          <a:ln/>
        </p:spPr>
        <p:txBody>
          <a:bodyPr wrap="square" lIns="0" tIns="0" rIns="0" bIns="0" rtlCol="0" anchor="ctr"/>
          <a:lstStyle/>
          <a:p>
            <a:pPr indent="0" marL="0">
              <a:buNone/>
            </a:pPr>
            <a:r>
              <a:rPr lang="en-US" sz="2000" b="1" dirty="0">
                <a:solidFill>
                  <a:schemeClr val="tx2"/>
                </a:solidFill>
              </a:rPr>
              <a:t>Phase-III Roadmap</a:t>
            </a:r>
            <a:endParaRPr lang="en-US" sz="2000" dirty="0"/>
          </a:p>
        </p:txBody>
      </p:sp>
      <p:sp>
        <p:nvSpPr>
          <p:cNvPr id="11" name="Column text: Phase-III Roadmap"/>
          <p:cNvSpPr txBox="1"/>
          <p:nvPr/>
        </p:nvSpPr>
        <p:spPr>
          <a:xfrm>
            <a:off x="8302752" y="2148840"/>
            <a:ext cx="3154680" cy="365760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600" dirty="0">
                <a:solidFill>
                  <a:srgbClr val="1B2430"/>
                </a:solidFill>
              </a:rPr>
              <a:t>SQLite: login, saved progress, case loading</a:t>
            </a:r>
            <a:endParaRPr lang="en-US" sz="1600" dirty="0"/>
          </a:p>
          <a:p>
            <a:pPr marL="342900" indent="-342900">
              <a:spcAft>
                <a:spcPts val="1000"/>
              </a:spcAft>
              <a:buSzPct val="100000"/>
              <a:buFont typeface="+mj-lt"/>
              <a:buAutoNum type="arabicPeriod" startAt="1"/>
            </a:pPr>
            <a:r>
              <a:rPr lang="en-US" sz="1600" dirty="0">
                <a:solidFill>
                  <a:srgbClr val="1B2430"/>
                </a:solidFill>
              </a:rPr>
              <a:t>Deepen DSA: sorting and searching in the dossier, complexity analysis</a:t>
            </a:r>
            <a:endParaRPr lang="en-US" sz="1600" dirty="0"/>
          </a:p>
          <a:p>
            <a:pPr marL="342900" indent="-342900">
              <a:spcAft>
                <a:spcPts val="1000"/>
              </a:spcAft>
              <a:buSzPct val="100000"/>
              <a:buFont typeface="+mj-lt"/>
              <a:buAutoNum type="arabicPeriod" startAt="1"/>
            </a:pPr>
            <a:r>
              <a:rPr lang="en-US" sz="1600" dirty="0">
                <a:solidFill>
                  <a:srgbClr val="1B2430"/>
                </a:solidFill>
              </a:rPr>
              <a:t>Playtesting with 5 to 10 users</a:t>
            </a:r>
            <a:endParaRPr lang="en-US" sz="1600" dirty="0"/>
          </a:p>
          <a:p>
            <a:pPr marL="342900" indent="-342900">
              <a:spcAft>
                <a:spcPts val="1000"/>
              </a:spcAft>
              <a:buSzPct val="100000"/>
              <a:buFont typeface="+mj-lt"/>
              <a:buAutoNum type="arabicPeriod" startAt="1"/>
            </a:pPr>
            <a:r>
              <a:rPr lang="en-US" sz="1600" dirty="0">
                <a:solidFill>
                  <a:srgbClr val="1B2430"/>
                </a:solidFill>
              </a:rPr>
              <a:t>Sound, menus and a tutorial</a:t>
            </a:r>
            <a:endParaRPr lang="en-US" sz="1600" dirty="0"/>
          </a:p>
          <a:p>
            <a:pPr marL="342900" indent="-342900">
              <a:spcAft>
                <a:spcPts val="1000"/>
              </a:spcAft>
              <a:buSzPct val="100000"/>
              <a:buFont typeface="+mj-lt"/>
              <a:buAutoNum type="arabicPeriod" startAt="1"/>
            </a:pPr>
            <a:r>
              <a:rPr lang="en-US" sz="1600" dirty="0">
                <a:solidFill>
                  <a:srgbClr val="1B2430"/>
                </a:solidFill>
              </a:rPr>
              <a:t>Final testing, documentation and report</a:t>
            </a:r>
            <a:endParaRPr lang="en-US" sz="16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4" type="title" hasCustomPrompt="1"/>
          </p:nvPr>
        </p:nvSpPr>
        <p:spPr>
          <a:xfrm>
            <a:off x="548640" y="27432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Expected Outcomes &amp; References</a:t>
            </a:r>
            <a:endParaRPr lang="en-US" sz="3200" dirty="0"/>
          </a:p>
        </p:txBody>
      </p:sp>
      <p:sp>
        <p:nvSpPr>
          <p:cNvPr id="3" name="Heading: Expected Final Outcomes"/>
          <p:cNvSpPr txBox="1"/>
          <p:nvPr/>
        </p:nvSpPr>
        <p:spPr>
          <a:xfrm>
            <a:off x="548640" y="1371600"/>
            <a:ext cx="5486400" cy="411480"/>
          </a:xfrm>
          <a:prstGeom prst="rect">
            <a:avLst/>
          </a:prstGeom>
          <a:noFill/>
          <a:ln/>
        </p:spPr>
        <p:txBody>
          <a:bodyPr wrap="square" lIns="0" tIns="0" rIns="0" bIns="0" rtlCol="0" anchor="ctr"/>
          <a:lstStyle/>
          <a:p>
            <a:pPr indent="0" marL="0">
              <a:buNone/>
            </a:pPr>
            <a:r>
              <a:rPr lang="en-US" sz="2200" b="1" dirty="0">
                <a:solidFill>
                  <a:schemeClr val="tx2"/>
                </a:solidFill>
              </a:rPr>
              <a:t>Expected Final Outcomes</a:t>
            </a:r>
            <a:endParaRPr lang="en-US" sz="2200" dirty="0"/>
          </a:p>
        </p:txBody>
      </p:sp>
      <p:sp>
        <p:nvSpPr>
          <p:cNvPr id="4" name="Outcomes list"/>
          <p:cNvSpPr txBox="1"/>
          <p:nvPr/>
        </p:nvSpPr>
        <p:spPr>
          <a:xfrm>
            <a:off x="548640" y="1874520"/>
            <a:ext cx="5394960" cy="31089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B2430"/>
                </a:solidFill>
              </a:rPr>
              <a:t>A complete single-case game with saved progress</a:t>
            </a:r>
            <a:endParaRPr lang="en-US" sz="1500" dirty="0"/>
          </a:p>
          <a:p>
            <a:pPr marL="342900" indent="-342900">
              <a:spcAft>
                <a:spcPts val="900"/>
              </a:spcAft>
              <a:buSzPct val="100000"/>
              <a:buChar char="▶"/>
            </a:pPr>
            <a:r>
              <a:rPr lang="en-US" sz="1500" dirty="0">
                <a:solidFill>
                  <a:srgbClr val="1B2430"/>
                </a:solidFill>
              </a:rPr>
              <a:t>Measurable results: completion rate and time to solve from playtests</a:t>
            </a:r>
            <a:endParaRPr lang="en-US" sz="1500" dirty="0"/>
          </a:p>
          <a:p>
            <a:pPr marL="342900" indent="-342900">
              <a:spcAft>
                <a:spcPts val="900"/>
              </a:spcAft>
              <a:buSzPct val="100000"/>
              <a:buChar char="▶"/>
            </a:pPr>
            <a:r>
              <a:rPr lang="en-US" sz="1500" dirty="0">
                <a:solidFill>
                  <a:srgbClr val="1B2430"/>
                </a:solidFill>
              </a:rPr>
              <a:t>Educational use: practise logical reasoning and school science</a:t>
            </a:r>
            <a:endParaRPr lang="en-US" sz="1500" dirty="0"/>
          </a:p>
          <a:p>
            <a:pPr marL="342900" indent="-342900">
              <a:spcAft>
                <a:spcPts val="900"/>
              </a:spcAft>
              <a:buSzPct val="100000"/>
              <a:buChar char="▶"/>
            </a:pPr>
            <a:r>
              <a:rPr lang="en-US" sz="1500" dirty="0">
                <a:solidFill>
                  <a:srgbClr val="1B2430"/>
                </a:solidFill>
              </a:rPr>
              <a:t>Runs on Windows desktops; a packaged build is possible</a:t>
            </a:r>
            <a:endParaRPr lang="en-US" sz="1500" dirty="0"/>
          </a:p>
          <a:p>
            <a:pPr marL="342900" indent="-342900">
              <a:spcAft>
                <a:spcPts val="900"/>
              </a:spcAft>
              <a:buSzPct val="100000"/>
              <a:buChar char="▶"/>
            </a:pPr>
            <a:r>
              <a:rPr lang="en-US" sz="1500" dirty="0">
                <a:solidFill>
                  <a:srgbClr val="1B2430"/>
                </a:solidFill>
              </a:rPr>
              <a:t>Documented complexity analysis of every data structure used</a:t>
            </a:r>
            <a:endParaRPr lang="en-US" sz="1500" dirty="0"/>
          </a:p>
        </p:txBody>
      </p:sp>
      <p:sp>
        <p:nvSpPr>
          <p:cNvPr id="5" name="Heading: References"/>
          <p:cNvSpPr txBox="1"/>
          <p:nvPr/>
        </p:nvSpPr>
        <p:spPr>
          <a:xfrm>
            <a:off x="6309360" y="1371600"/>
            <a:ext cx="5486400" cy="411480"/>
          </a:xfrm>
          <a:prstGeom prst="rect">
            <a:avLst/>
          </a:prstGeom>
          <a:noFill/>
          <a:ln/>
        </p:spPr>
        <p:txBody>
          <a:bodyPr wrap="square" lIns="0" tIns="0" rIns="0" bIns="0" rtlCol="0" anchor="ctr"/>
          <a:lstStyle/>
          <a:p>
            <a:pPr indent="0" marL="0">
              <a:buNone/>
            </a:pPr>
            <a:r>
              <a:rPr lang="en-US" sz="2200" b="1" dirty="0">
                <a:solidFill>
                  <a:schemeClr val="tx2"/>
                </a:solidFill>
              </a:rPr>
              <a:t>References</a:t>
            </a:r>
            <a:endParaRPr lang="en-US" sz="2200" dirty="0"/>
          </a:p>
        </p:txBody>
      </p:sp>
      <p:sp>
        <p:nvSpPr>
          <p:cNvPr id="6" name="References list"/>
          <p:cNvSpPr txBox="1"/>
          <p:nvPr/>
        </p:nvSpPr>
        <p:spPr>
          <a:xfrm>
            <a:off x="6309360" y="1874520"/>
            <a:ext cx="5330952" cy="31089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400" dirty="0">
                <a:solidFill>
                  <a:srgbClr val="1B2430"/>
                </a:solidFill>
              </a:rPr>
              <a:t>T. H. Cormen et al., Introduction to Algorithms, MIT Press (BFS, topological sort)</a:t>
            </a:r>
            <a:endParaRPr lang="en-US" sz="1400" dirty="0"/>
          </a:p>
          <a:p>
            <a:pPr marL="342900" indent="-342900">
              <a:spcAft>
                <a:spcPts val="900"/>
              </a:spcAft>
              <a:buSzPct val="100000"/>
              <a:buFont typeface="+mj-lt"/>
              <a:buAutoNum type="arabicPeriod" startAt="1"/>
            </a:pPr>
            <a:r>
              <a:rPr lang="en-US" sz="1400" dirty="0">
                <a:solidFill>
                  <a:srgbClr val="1B2430"/>
                </a:solidFill>
              </a:rPr>
              <a:t>R. Lafore, Object-Oriented Programming in C++</a:t>
            </a:r>
            <a:endParaRPr lang="en-US" sz="1400" dirty="0"/>
          </a:p>
          <a:p>
            <a:pPr marL="342900" indent="-342900">
              <a:spcAft>
                <a:spcPts val="900"/>
              </a:spcAft>
              <a:buSzPct val="100000"/>
              <a:buFont typeface="+mj-lt"/>
              <a:buAutoNum type="arabicPeriod" startAt="1"/>
            </a:pPr>
            <a:r>
              <a:rPr lang="en-US" sz="1400" dirty="0">
                <a:solidFill>
                  <a:srgbClr val="1B2430"/>
                </a:solidFill>
              </a:rPr>
              <a:t>Qt 6 documentation: doc.qt.io</a:t>
            </a:r>
            <a:endParaRPr lang="en-US" sz="1400" dirty="0"/>
          </a:p>
          <a:p>
            <a:pPr marL="342900" indent="-342900">
              <a:spcAft>
                <a:spcPts val="900"/>
              </a:spcAft>
              <a:buSzPct val="100000"/>
              <a:buFont typeface="+mj-lt"/>
              <a:buAutoNum type="arabicPeriod" startAt="1"/>
            </a:pPr>
            <a:r>
              <a:rPr lang="en-US" sz="1400" dirty="0">
                <a:solidFill>
                  <a:srgbClr val="1B2430"/>
                </a:solidFill>
              </a:rPr>
              <a:t>Tiled map editor documentation: doc.mapeditor.org</a:t>
            </a:r>
            <a:endParaRPr lang="en-US" sz="1400" dirty="0"/>
          </a:p>
          <a:p>
            <a:pPr marL="342900" indent="-342900">
              <a:spcAft>
                <a:spcPts val="900"/>
              </a:spcAft>
              <a:buSzPct val="100000"/>
              <a:buFont typeface="+mj-lt"/>
              <a:buAutoNum type="arabicPeriod" startAt="1"/>
            </a:pPr>
            <a:r>
              <a:rPr lang="en-US" sz="1400" dirty="0">
                <a:solidFill>
                  <a:srgbClr val="1B2430"/>
                </a:solidFill>
              </a:rPr>
              <a:t>SQLite documentation: sqlite.org/docs.html</a:t>
            </a:r>
            <a:endParaRPr lang="en-US" sz="1400" dirty="0"/>
          </a:p>
        </p:txBody>
      </p:sp>
      <p:sp>
        <p:nvSpPr>
          <p:cNvPr id="7" name="Thank you banner"/>
          <p:cNvSpPr/>
          <p:nvPr/>
        </p:nvSpPr>
        <p:spPr>
          <a:xfrm>
            <a:off x="548640" y="5257800"/>
            <a:ext cx="11091672" cy="960120"/>
          </a:xfrm>
          <a:prstGeom prst="roundRect">
            <a:avLst>
              <a:gd name="adj" fmla="val 11429"/>
            </a:avLst>
          </a:prstGeom>
          <a:solidFill>
            <a:schemeClr val="tx2"/>
          </a:solidFill>
          <a:ln w="12700">
            <a:solidFill>
              <a:schemeClr val="tx2"/>
            </a:solidFill>
            <a:prstDash val="solid"/>
          </a:ln>
        </p:spPr>
      </p:sp>
      <p:sp>
        <p:nvSpPr>
          <p:cNvPr id="8" name="Thank you text"/>
          <p:cNvSpPr txBox="1"/>
          <p:nvPr/>
        </p:nvSpPr>
        <p:spPr>
          <a:xfrm>
            <a:off x="548640" y="5257800"/>
            <a:ext cx="11091672" cy="960120"/>
          </a:xfrm>
          <a:prstGeom prst="rect">
            <a:avLst/>
          </a:prstGeom>
          <a:noFill/>
          <a:ln/>
        </p:spPr>
        <p:txBody>
          <a:bodyPr wrap="square" lIns="0" tIns="0" rIns="0" bIns="0" rtlCol="0" anchor="ctr"/>
          <a:lstStyle/>
          <a:p>
            <a:pPr algn="ctr" indent="0" marL="0">
              <a:buNone/>
            </a:pPr>
            <a:r>
              <a:rPr lang="en-US" sz="2800" b="1" dirty="0">
                <a:solidFill>
                  <a:schemeClr val="bg1"/>
                </a:solidFill>
              </a:rPr>
              <a:t>Thank You</a:t>
            </a:r>
            <a:endParaRPr lang="en-US" sz="2800" dirty="0"/>
          </a:p>
          <a:p>
            <a:pPr algn="ctr" indent="0" marL="0">
              <a:buNone/>
            </a:pPr>
            <a:r>
              <a:rPr lang="en-US" sz="1600" dirty="0">
                <a:solidFill>
                  <a:schemeClr val="bg1"/>
                </a:solidFill>
              </a:rPr>
              <a:t>Questions &amp; Suggestions</a:t>
            </a:r>
            <a:endParaRPr lang="en-US" sz="2800" dirty="0"/>
          </a:p>
        </p:txBody>
      </p:sp>
      <p:sp>
        <p:nvSpPr>
          <p:cNvPr id="25" name="Slide Number Placeholder 0"/>
          <p:cNvSpPr>
            <a:spLocks noGrp="1"/>
          </p:cNvSpPr>
          <p:nvPr>
            <p:ph type="sldNum" sz="quarter" idx="4294967295"/>
          </p:nvPr>
        </p:nvSpPr>
        <p:spPr>
          <a:xfrm>
            <a:off x="10607040" y="6446520"/>
            <a:ext cx="64008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Graphic Era PBL">
  <a:themeElements>
    <a:clrScheme name="Graphic Era PBL">
      <a:dk1>
        <a:srgbClr val="1B2430"/>
      </a:dk1>
      <a:lt1>
        <a:srgbClr val="FFFFFF"/>
      </a:lt1>
      <a:dk2>
        <a:srgbClr val="14376B"/>
      </a:dk2>
      <a:lt2>
        <a:srgbClr val="EBF2FB"/>
      </a:lt2>
      <a:accent1>
        <a:srgbClr val="14376B"/>
      </a:accent1>
      <a:accent2>
        <a:srgbClr val="C8102E"/>
      </a:accent2>
      <a:accent3>
        <a:srgbClr val="1F7A4D"/>
      </a:accent3>
      <a:accent4>
        <a:srgbClr val="B7791F"/>
      </a:accent4>
      <a:accent5>
        <a:srgbClr val="5C6B7A"/>
      </a:accent5>
      <a:accent6>
        <a:srgbClr val="2F6FB5"/>
      </a:accent6>
      <a:hlink>
        <a:srgbClr val="1F6FEB"/>
      </a:hlink>
      <a:folHlink>
        <a:srgbClr val="5C6B7A"/>
      </a:folHlink>
    </a:clrScheme>
    <a:fontScheme name="Graphic Era PB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Graphic Era (Deemed to be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Detective's Dossier: Phase-II Evaluation</dc:title>
  <dc:subject>PptxGenJS Presentation</dc:subject>
  <dc:creator>Team Code Detektives (DSCPP-III-2026-T027)</dc:creator>
  <cp:lastModifiedBy>Team Code Detektives (DSCPP-III-2026-T027)</cp:lastModifiedBy>
  <cp:revision>1</cp:revision>
  <dcterms:created xsi:type="dcterms:W3CDTF">2026-10-16T04:08:03Z</dcterms:created>
  <dcterms:modified xsi:type="dcterms:W3CDTF">2026-10-16T04:08:03Z</dcterms:modified>
</cp:coreProperties>
</file>